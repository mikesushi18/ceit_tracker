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47"/>
  </p:notesMasterIdLst>
  <p:handoutMasterIdLst>
    <p:handoutMasterId r:id="rId48"/>
  </p:handoutMasterIdLst>
  <p:sldIdLst>
    <p:sldId id="256" r:id="rId2"/>
    <p:sldId id="259" r:id="rId3"/>
    <p:sldId id="257" r:id="rId4"/>
    <p:sldId id="262" r:id="rId5"/>
    <p:sldId id="263" r:id="rId6"/>
    <p:sldId id="307" r:id="rId7"/>
    <p:sldId id="264" r:id="rId8"/>
    <p:sldId id="265"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5" r:id="rId27"/>
    <p:sldId id="286" r:id="rId28"/>
    <p:sldId id="287" r:id="rId29"/>
    <p:sldId id="288" r:id="rId30"/>
    <p:sldId id="289" r:id="rId31"/>
    <p:sldId id="290" r:id="rId32"/>
    <p:sldId id="291" r:id="rId33"/>
    <p:sldId id="292" r:id="rId34"/>
    <p:sldId id="293" r:id="rId35"/>
    <p:sldId id="294" r:id="rId36"/>
    <p:sldId id="296" r:id="rId37"/>
    <p:sldId id="297" r:id="rId38"/>
    <p:sldId id="298" r:id="rId39"/>
    <p:sldId id="299" r:id="rId40"/>
    <p:sldId id="300" r:id="rId41"/>
    <p:sldId id="301" r:id="rId42"/>
    <p:sldId id="302" r:id="rId43"/>
    <p:sldId id="303" r:id="rId44"/>
    <p:sldId id="305" r:id="rId45"/>
    <p:sldId id="306" r:id="rId46"/>
  </p:sldIdLst>
  <p:sldSz cx="9144000" cy="5143500" type="screen16x9"/>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D5FF"/>
    <a:srgbClr val="FF8225"/>
    <a:srgbClr val="FF2549"/>
    <a:srgbClr val="FF0D97"/>
    <a:srgbClr val="0000CC"/>
    <a:srgbClr val="003635"/>
    <a:srgbClr val="9EFF29"/>
    <a:srgbClr val="C80064"/>
    <a:srgbClr val="C33A1F"/>
    <a:srgbClr val="007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317"/>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4D86AE-B3A4-A22E-6EFF-F0B4DEA98EA3}"/>
              </a:ext>
            </a:extLst>
          </p:cNvPr>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2C5C59-A6B6-797D-5A14-A754BD37ECF8}"/>
              </a:ext>
            </a:extLst>
          </p:cNvPr>
          <p:cNvSpPr>
            <a:spLocks noGrp="1"/>
          </p:cNvSpPr>
          <p:nvPr>
            <p:ph type="dt" sz="quarter" idx="1"/>
          </p:nvPr>
        </p:nvSpPr>
        <p:spPr>
          <a:xfrm>
            <a:off x="3902075" y="0"/>
            <a:ext cx="2984500" cy="501650"/>
          </a:xfrm>
          <a:prstGeom prst="rect">
            <a:avLst/>
          </a:prstGeom>
        </p:spPr>
        <p:txBody>
          <a:bodyPr vert="horz" lIns="91440" tIns="45720" rIns="91440" bIns="45720" rtlCol="0"/>
          <a:lstStyle>
            <a:lvl1pPr algn="r">
              <a:defRPr sz="1200"/>
            </a:lvl1pPr>
          </a:lstStyle>
          <a:p>
            <a:endParaRPr lang="en-US"/>
          </a:p>
        </p:txBody>
      </p:sp>
      <p:sp>
        <p:nvSpPr>
          <p:cNvPr id="4" name="Footer Placeholder 3">
            <a:extLst>
              <a:ext uri="{FF2B5EF4-FFF2-40B4-BE49-F238E27FC236}">
                <a16:creationId xmlns:a16="http://schemas.microsoft.com/office/drawing/2014/main" id="{9DB638A9-C47B-C329-7129-A276365DE645}"/>
              </a:ext>
            </a:extLst>
          </p:cNvPr>
          <p:cNvSpPr>
            <a:spLocks noGrp="1"/>
          </p:cNvSpPr>
          <p:nvPr>
            <p:ph type="ftr" sz="quarter" idx="2"/>
          </p:nvPr>
        </p:nvSpPr>
        <p:spPr>
          <a:xfrm>
            <a:off x="0" y="9518650"/>
            <a:ext cx="2984500" cy="5016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B03F154-84B3-5CE3-C96E-0B8A2325CDF7}"/>
              </a:ext>
            </a:extLst>
          </p:cNvPr>
          <p:cNvSpPr>
            <a:spLocks noGrp="1"/>
          </p:cNvSpPr>
          <p:nvPr>
            <p:ph type="sldNum" sz="quarter" idx="3"/>
          </p:nvPr>
        </p:nvSpPr>
        <p:spPr>
          <a:xfrm>
            <a:off x="3902075" y="9518650"/>
            <a:ext cx="2984500" cy="501650"/>
          </a:xfrm>
          <a:prstGeom prst="rect">
            <a:avLst/>
          </a:prstGeom>
        </p:spPr>
        <p:txBody>
          <a:bodyPr vert="horz" lIns="91440" tIns="45720" rIns="91440" bIns="45720" rtlCol="0" anchor="b"/>
          <a:lstStyle>
            <a:lvl1pPr algn="r">
              <a:defRPr sz="1200"/>
            </a:lvl1pPr>
          </a:lstStyle>
          <a:p>
            <a:fld id="{FB872EAE-B6AC-4FB3-9C6F-208D8E3A88CB}" type="slidenum">
              <a:rPr lang="en-US" smtClean="0"/>
              <a:t>‹#›</a:t>
            </a:fld>
            <a:endParaRPr lang="en-US"/>
          </a:p>
        </p:txBody>
      </p:sp>
    </p:spTree>
    <p:extLst>
      <p:ext uri="{BB962C8B-B14F-4D97-AF65-F5344CB8AC3E}">
        <p14:creationId xmlns:p14="http://schemas.microsoft.com/office/powerpoint/2010/main" val="1351304647"/>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755"/>
          </a:xfrm>
          <a:prstGeom prst="rect">
            <a:avLst/>
          </a:prstGeom>
        </p:spPr>
        <p:txBody>
          <a:bodyPr vert="horz" lIns="96616" tIns="48308" rIns="96616" bIns="48308" rtlCol="0"/>
          <a:lstStyle>
            <a:lvl1pPr algn="l">
              <a:defRPr sz="1300"/>
            </a:lvl1pPr>
          </a:lstStyle>
          <a:p>
            <a:endParaRPr lang="en-US"/>
          </a:p>
        </p:txBody>
      </p:sp>
      <p:sp>
        <p:nvSpPr>
          <p:cNvPr id="3" name="Date Placeholder 2"/>
          <p:cNvSpPr>
            <a:spLocks noGrp="1"/>
          </p:cNvSpPr>
          <p:nvPr>
            <p:ph type="dt" idx="1"/>
          </p:nvPr>
        </p:nvSpPr>
        <p:spPr>
          <a:xfrm>
            <a:off x="3901698" y="0"/>
            <a:ext cx="2984871" cy="502755"/>
          </a:xfrm>
          <a:prstGeom prst="rect">
            <a:avLst/>
          </a:prstGeom>
        </p:spPr>
        <p:txBody>
          <a:bodyPr vert="horz" lIns="96616" tIns="48308" rIns="96616" bIns="48308" rtlCol="0"/>
          <a:lstStyle>
            <a:lvl1pPr algn="r">
              <a:defRPr sz="1300"/>
            </a:lvl1pPr>
          </a:lstStyle>
          <a:p>
            <a:endParaRPr lang="en-US"/>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16" tIns="48308" rIns="96616" bIns="48308" rtlCol="0" anchor="ctr"/>
          <a:lstStyle/>
          <a:p>
            <a:endParaRPr lang="en-US"/>
          </a:p>
        </p:txBody>
      </p:sp>
      <p:sp>
        <p:nvSpPr>
          <p:cNvPr id="5" name="Notes Placeholder 4"/>
          <p:cNvSpPr>
            <a:spLocks noGrp="1"/>
          </p:cNvSpPr>
          <p:nvPr>
            <p:ph type="body" sz="quarter" idx="3"/>
          </p:nvPr>
        </p:nvSpPr>
        <p:spPr>
          <a:xfrm>
            <a:off x="688817" y="4822269"/>
            <a:ext cx="5510530" cy="3945493"/>
          </a:xfrm>
          <a:prstGeom prst="rect">
            <a:avLst/>
          </a:prstGeom>
        </p:spPr>
        <p:txBody>
          <a:bodyPr vert="horz" lIns="96616" tIns="48308" rIns="96616" bIns="4830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7547"/>
            <a:ext cx="2984871" cy="502754"/>
          </a:xfrm>
          <a:prstGeom prst="rect">
            <a:avLst/>
          </a:prstGeom>
        </p:spPr>
        <p:txBody>
          <a:bodyPr vert="horz" lIns="96616" tIns="48308" rIns="96616" bIns="48308" rtlCol="0" anchor="b"/>
          <a:lstStyle>
            <a:lvl1pPr algn="l">
              <a:defRPr sz="1300"/>
            </a:lvl1pPr>
          </a:lstStyle>
          <a:p>
            <a:endParaRPr lang="en-US"/>
          </a:p>
        </p:txBody>
      </p:sp>
      <p:sp>
        <p:nvSpPr>
          <p:cNvPr id="7" name="Slide Number Placeholder 6"/>
          <p:cNvSpPr>
            <a:spLocks noGrp="1"/>
          </p:cNvSpPr>
          <p:nvPr>
            <p:ph type="sldNum" sz="quarter" idx="5"/>
          </p:nvPr>
        </p:nvSpPr>
        <p:spPr>
          <a:xfrm>
            <a:off x="3901698" y="9517547"/>
            <a:ext cx="2984871" cy="502754"/>
          </a:xfrm>
          <a:prstGeom prst="rect">
            <a:avLst/>
          </a:prstGeom>
        </p:spPr>
        <p:txBody>
          <a:bodyPr vert="horz" lIns="96616" tIns="48308" rIns="96616" bIns="48308" rtlCol="0" anchor="b"/>
          <a:lstStyle>
            <a:lvl1pPr algn="r">
              <a:defRPr sz="13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a:extLst>
              <a:ext uri="{FF2B5EF4-FFF2-40B4-BE49-F238E27FC236}">
                <a16:creationId xmlns:a16="http://schemas.microsoft.com/office/drawing/2014/main" id="{2736D273-FE15-C063-C84E-6F326A185109}"/>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25043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5" name="Date Placeholder 4">
            <a:extLst>
              <a:ext uri="{FF2B5EF4-FFF2-40B4-BE49-F238E27FC236}">
                <a16:creationId xmlns:a16="http://schemas.microsoft.com/office/drawing/2014/main" id="{60D20366-4F6F-09C5-30F6-486C77130808}"/>
              </a:ext>
            </a:extLst>
          </p:cNvPr>
          <p:cNvSpPr>
            <a:spLocks noGrp="1"/>
          </p:cNvSpPr>
          <p:nvPr>
            <p:ph type="dt" idx="1"/>
          </p:nvPr>
        </p:nvSpPr>
        <p:spPr/>
        <p:txBody>
          <a:bodyPr/>
          <a:lstStyle/>
          <a:p>
            <a:endParaRPr lang="en-US"/>
          </a:p>
        </p:txBody>
      </p:sp>
    </p:spTree>
    <p:extLst>
      <p:ext uri="{BB962C8B-B14F-4D97-AF65-F5344CB8AC3E}">
        <p14:creationId xmlns:p14="http://schemas.microsoft.com/office/powerpoint/2010/main" val="28702711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67815" y="2750571"/>
            <a:ext cx="8015750" cy="1740310"/>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589938" y="4321271"/>
            <a:ext cx="8001000" cy="678426"/>
          </a:xfrm>
        </p:spPr>
        <p:txBody>
          <a:bodyPr>
            <a:normAutofit/>
          </a:bodyPr>
          <a:lstStyle>
            <a:lvl1pPr marL="0" indent="0" algn="l">
              <a:buNone/>
              <a:defRPr sz="2800" b="0" i="0">
                <a:solidFill>
                  <a:srgbClr val="5DD5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9823" y="666789"/>
            <a:ext cx="8259098" cy="763526"/>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57201" y="1452716"/>
            <a:ext cx="8325464" cy="3325760"/>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47052" y="458157"/>
            <a:ext cx="6247121" cy="725349"/>
          </a:xfrm>
        </p:spPr>
        <p:txBody>
          <a:bodyPr>
            <a:normAutofit/>
          </a:bodyPr>
          <a:lstStyle>
            <a:lvl1pPr algn="l">
              <a:defRPr sz="3600">
                <a:solidFill>
                  <a:srgbClr val="00206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455606" y="1231490"/>
            <a:ext cx="6238568" cy="3508626"/>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9" y="773089"/>
            <a:ext cx="8093365" cy="763525"/>
          </a:xfrm>
        </p:spPr>
        <p:txBody>
          <a:bodyPr>
            <a:normAutofit/>
          </a:bodyPr>
          <a:lstStyle>
            <a:lvl1pPr algn="l">
              <a:defRPr sz="3600" baseline="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22131" y="1640762"/>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22131" y="2113159"/>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57252" y="1640762"/>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57252" y="2113159"/>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685" y="3325760"/>
            <a:ext cx="8045245" cy="752163"/>
          </a:xfrm>
        </p:spPr>
        <p:txBody>
          <a:bodyPr>
            <a:normAutofit/>
          </a:bodyPr>
          <a:lstStyle/>
          <a:p>
            <a:r>
              <a:rPr lang="en-US" b="1" dirty="0">
                <a:latin typeface="Arial" panose="020B0604020202020204" pitchFamily="34" charset="0"/>
                <a:cs typeface="Arial" panose="020B0604020202020204" pitchFamily="34" charset="0"/>
              </a:rPr>
              <a:t>Lecture 1 – </a:t>
            </a:r>
          </a:p>
        </p:txBody>
      </p:sp>
      <p:sp>
        <p:nvSpPr>
          <p:cNvPr id="3" name="Subtitle 2"/>
          <p:cNvSpPr>
            <a:spLocks noGrp="1"/>
          </p:cNvSpPr>
          <p:nvPr>
            <p:ph type="subTitle" idx="1"/>
          </p:nvPr>
        </p:nvSpPr>
        <p:spPr>
          <a:xfrm>
            <a:off x="589938" y="4129543"/>
            <a:ext cx="8074740" cy="730043"/>
          </a:xfrm>
        </p:spPr>
        <p:txBody>
          <a:bodyPr/>
          <a:lstStyle/>
          <a:p>
            <a:r>
              <a:rPr lang="en-US" b="1" dirty="0">
                <a:latin typeface="Arial" panose="020B0604020202020204" pitchFamily="34" charset="0"/>
                <a:cs typeface="Arial" panose="020B0604020202020204" pitchFamily="34" charset="0"/>
              </a:rPr>
              <a:t>Social Context of Computing</a:t>
            </a:r>
            <a:endParaRPr lang="en-US" dirty="0"/>
          </a:p>
        </p:txBody>
      </p:sp>
      <p:sp>
        <p:nvSpPr>
          <p:cNvPr id="4" name="Date Placeholder 3">
            <a:extLst>
              <a:ext uri="{FF2B5EF4-FFF2-40B4-BE49-F238E27FC236}">
                <a16:creationId xmlns:a16="http://schemas.microsoft.com/office/drawing/2014/main" id="{D4C490C3-C4FA-FC1C-1D01-5148043A33B3}"/>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47053" y="148441"/>
            <a:ext cx="6247121" cy="725349"/>
          </a:xfrm>
        </p:spPr>
        <p:txBody>
          <a:bodyPr>
            <a:normAutofit/>
          </a:bodyPr>
          <a:lstStyle/>
          <a:p>
            <a:r>
              <a:rPr lang="en-US" b="1" dirty="0">
                <a:latin typeface="Arial" panose="020B0604020202020204" pitchFamily="34" charset="0"/>
                <a:cs typeface="Arial" panose="020B0604020202020204" pitchFamily="34" charset="0"/>
              </a:rPr>
              <a:t>Learning Objectives</a:t>
            </a:r>
          </a:p>
        </p:txBody>
      </p:sp>
      <p:sp>
        <p:nvSpPr>
          <p:cNvPr id="5" name="Content Placeholder 4"/>
          <p:cNvSpPr>
            <a:spLocks noGrp="1"/>
          </p:cNvSpPr>
          <p:nvPr>
            <p:ph idx="1"/>
          </p:nvPr>
        </p:nvSpPr>
        <p:spPr>
          <a:xfrm>
            <a:off x="2447053" y="873789"/>
            <a:ext cx="6585155" cy="4121269"/>
          </a:xfrm>
        </p:spPr>
        <p:txBody>
          <a:bodyPr>
            <a:normAutofit lnSpcReduction="10000"/>
          </a:bodyPr>
          <a:lstStyle/>
          <a:p>
            <a:pPr marL="0" indent="0">
              <a:buNone/>
            </a:pPr>
            <a:r>
              <a:rPr lang="en-PH" sz="2000" dirty="0">
                <a:latin typeface="Arial" panose="020B0604020202020204" pitchFamily="34" charset="0"/>
                <a:cs typeface="Arial" panose="020B0604020202020204" pitchFamily="34" charset="0"/>
              </a:rPr>
              <a:t>After the completion of the chapter, the students will be able to:</a:t>
            </a:r>
          </a:p>
          <a:p>
            <a:pPr algn="just"/>
            <a:r>
              <a:rPr lang="en-PH" sz="2000" dirty="0">
                <a:latin typeface="Arial" panose="020B0604020202020204" pitchFamily="34" charset="0"/>
                <a:cs typeface="Arial" panose="020B0604020202020204" pitchFamily="34" charset="0"/>
              </a:rPr>
              <a:t>explain the impact of the digital divide</a:t>
            </a:r>
          </a:p>
          <a:p>
            <a:pPr algn="just"/>
            <a:r>
              <a:rPr lang="en-US" sz="2000" dirty="0">
                <a:latin typeface="Arial" panose="020B0604020202020204" pitchFamily="34" charset="0"/>
                <a:cs typeface="Arial" panose="020B0604020202020204" pitchFamily="34" charset="0"/>
              </a:rPr>
              <a:t>discuss the social context of a particular software / hardware implementation</a:t>
            </a:r>
          </a:p>
          <a:p>
            <a:pPr algn="just"/>
            <a:r>
              <a:rPr lang="en-US" sz="2000" dirty="0">
                <a:latin typeface="Arial" panose="020B0604020202020204" pitchFamily="34" charset="0"/>
                <a:cs typeface="Arial" panose="020B0604020202020204" pitchFamily="34" charset="0"/>
              </a:rPr>
              <a:t>describe the positive and negative ways in which computing alters the modes of interaction among people; </a:t>
            </a:r>
          </a:p>
          <a:p>
            <a:pPr algn="just"/>
            <a:r>
              <a:rPr lang="en-US" sz="2000" dirty="0">
                <a:latin typeface="Arial" panose="020B0604020202020204" pitchFamily="34" charset="0"/>
                <a:cs typeface="Arial" panose="020B0604020202020204" pitchFamily="34" charset="0"/>
              </a:rPr>
              <a:t>explain how income, geography, race and culture influence access to information technology and technology in general</a:t>
            </a:r>
          </a:p>
          <a:p>
            <a:pPr algn="just"/>
            <a:r>
              <a:rPr lang="en-US" sz="2000" dirty="0">
                <a:effectLst/>
                <a:latin typeface="Arial" panose="020B0604020202020204" pitchFamily="34" charset="0"/>
                <a:ea typeface="Calibri" panose="020F0502020204030204" pitchFamily="34" charset="0"/>
              </a:rPr>
              <a:t>analyze the role and risks of computing in the implementation of public policy and government. </a:t>
            </a:r>
            <a:endParaRPr lang="en-PH" sz="2000" dirty="0">
              <a:latin typeface="Arial" panose="020B0604020202020204" pitchFamily="34" charset="0"/>
              <a:cs typeface="Arial" panose="020B0604020202020204" pitchFamily="34" charset="0"/>
            </a:endParaRPr>
          </a:p>
        </p:txBody>
      </p:sp>
      <p:sp>
        <p:nvSpPr>
          <p:cNvPr id="2" name="Date Placeholder 1">
            <a:extLst>
              <a:ext uri="{FF2B5EF4-FFF2-40B4-BE49-F238E27FC236}">
                <a16:creationId xmlns:a16="http://schemas.microsoft.com/office/drawing/2014/main" id="{D47F4526-EF55-0111-7100-33E95B45C853}"/>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10163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The Digital Divide</a:t>
            </a:r>
          </a:p>
        </p:txBody>
      </p:sp>
      <p:sp>
        <p:nvSpPr>
          <p:cNvPr id="3" name="Content Placeholder 2"/>
          <p:cNvSpPr>
            <a:spLocks noGrp="1"/>
          </p:cNvSpPr>
          <p:nvPr>
            <p:ph idx="1"/>
          </p:nvPr>
        </p:nvSpPr>
        <p:spPr>
          <a:xfrm>
            <a:off x="265472" y="1313184"/>
            <a:ext cx="8878528" cy="3325760"/>
          </a:xfrm>
        </p:spPr>
        <p:txBody>
          <a:bodyPr>
            <a:normAutofit/>
          </a:bodyPr>
          <a:lstStyle/>
          <a:p>
            <a:pPr>
              <a:buFontTx/>
              <a:buChar char="-"/>
            </a:pPr>
            <a:r>
              <a:rPr lang="en-PH" sz="2400" dirty="0">
                <a:latin typeface="Arial" panose="020B0604020202020204" pitchFamily="34" charset="0"/>
                <a:cs typeface="Arial" panose="020B0604020202020204" pitchFamily="34" charset="0"/>
              </a:rPr>
              <a:t>technological inequalities among people in one country and between countries</a:t>
            </a:r>
          </a:p>
          <a:p>
            <a:pPr marL="0" indent="0">
              <a:buNone/>
            </a:pPr>
            <a:r>
              <a:rPr lang="en-PH" sz="2400" dirty="0">
                <a:latin typeface="Arial" panose="020B0604020202020204" pitchFamily="34" charset="0"/>
                <a:cs typeface="Arial" panose="020B0604020202020204" pitchFamily="34" charset="0"/>
              </a:rPr>
              <a:t>	Key critical issues:</a:t>
            </a:r>
          </a:p>
          <a:p>
            <a:pPr marL="722313"/>
            <a:r>
              <a:rPr lang="en-PH" sz="2400" dirty="0">
                <a:latin typeface="Arial" panose="020B0604020202020204" pitchFamily="34" charset="0"/>
                <a:cs typeface="Arial" panose="020B0604020202020204" pitchFamily="34" charset="0"/>
              </a:rPr>
              <a:t>Whether there is such a thing as a digital divide</a:t>
            </a:r>
          </a:p>
          <a:p>
            <a:pPr marL="722313"/>
            <a:r>
              <a:rPr lang="en-PH" sz="2400" dirty="0">
                <a:latin typeface="Arial" panose="020B0604020202020204" pitchFamily="34" charset="0"/>
                <a:cs typeface="Arial" panose="020B0604020202020204" pitchFamily="34" charset="0"/>
              </a:rPr>
              <a:t>Indicators that should be used to measure such a divide if it exists and</a:t>
            </a:r>
          </a:p>
          <a:p>
            <a:pPr marL="722313"/>
            <a:r>
              <a:rPr lang="en-PH" sz="2400" dirty="0">
                <a:latin typeface="Arial" panose="020B0604020202020204" pitchFamily="34" charset="0"/>
                <a:cs typeface="Arial" panose="020B0604020202020204" pitchFamily="34" charset="0"/>
              </a:rPr>
              <a:t>The best ways to close such a divide.</a:t>
            </a:r>
          </a:p>
          <a:p>
            <a:pPr marL="0" indent="0">
              <a:buNone/>
            </a:pPr>
            <a:endParaRPr lang="en-US" sz="2000" dirty="0">
              <a:latin typeface="Arial" panose="020B0604020202020204" pitchFamily="34" charset="0"/>
              <a:cs typeface="Arial" panose="020B0604020202020204" pitchFamily="34" charset="0"/>
            </a:endParaRPr>
          </a:p>
          <a:p>
            <a:endParaRPr lang="en-US" dirty="0"/>
          </a:p>
        </p:txBody>
      </p:sp>
      <p:sp>
        <p:nvSpPr>
          <p:cNvPr id="4" name="Date Placeholder 3">
            <a:extLst>
              <a:ext uri="{FF2B5EF4-FFF2-40B4-BE49-F238E27FC236}">
                <a16:creationId xmlns:a16="http://schemas.microsoft.com/office/drawing/2014/main" id="{3C70D63C-9C23-8DDA-D6A6-576B45B64ED2}"/>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410330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2572" y="117690"/>
            <a:ext cx="1821428" cy="763526"/>
          </a:xfrm>
        </p:spPr>
        <p:txBody>
          <a:bodyPr>
            <a:normAutofit/>
          </a:bodyPr>
          <a:lstStyle/>
          <a:p>
            <a:r>
              <a:rPr lang="en-US" sz="3200" b="1" dirty="0">
                <a:solidFill>
                  <a:schemeClr val="tx2">
                    <a:lumMod val="75000"/>
                  </a:schemeClr>
                </a:solidFill>
                <a:effectLst/>
                <a:latin typeface="Arial" panose="020B0604020202020204" pitchFamily="34" charset="0"/>
                <a:cs typeface="Arial" panose="020B0604020202020204" pitchFamily="34" charset="0"/>
              </a:rPr>
              <a:t>Access</a:t>
            </a:r>
          </a:p>
        </p:txBody>
      </p:sp>
      <p:sp>
        <p:nvSpPr>
          <p:cNvPr id="3" name="Content Placeholder 2"/>
          <p:cNvSpPr>
            <a:spLocks noGrp="1"/>
          </p:cNvSpPr>
          <p:nvPr>
            <p:ph idx="1"/>
          </p:nvPr>
        </p:nvSpPr>
        <p:spPr>
          <a:xfrm>
            <a:off x="265472" y="1313184"/>
            <a:ext cx="8878528" cy="2949100"/>
          </a:xfrm>
        </p:spPr>
        <p:txBody>
          <a:bodyPr numCol="2">
            <a:normAutofit/>
          </a:bodyPr>
          <a:lstStyle/>
          <a:p>
            <a:pPr>
              <a:buFontTx/>
              <a:buChar char="-"/>
            </a:pPr>
            <a:r>
              <a:rPr lang="en-PH" sz="2400" dirty="0">
                <a:latin typeface="Arial" panose="020B0604020202020204" pitchFamily="34" charset="0"/>
                <a:cs typeface="Arial" panose="020B0604020202020204" pitchFamily="34" charset="0"/>
              </a:rPr>
              <a:t>crucial component in the digital divide</a:t>
            </a:r>
          </a:p>
          <a:p>
            <a:pPr>
              <a:buFontTx/>
              <a:buChar char="-"/>
            </a:pPr>
            <a:r>
              <a:rPr lang="en-PH" sz="2400" dirty="0">
                <a:latin typeface="Arial" panose="020B0604020202020204" pitchFamily="34" charset="0"/>
                <a:cs typeface="Arial" panose="020B0604020202020204" pitchFamily="34" charset="0"/>
              </a:rPr>
              <a:t>involves obstacles that exist even if all the other remaining indicators are in place	</a:t>
            </a:r>
          </a:p>
          <a:p>
            <a:pPr marL="0" indent="0">
              <a:buNone/>
            </a:pPr>
            <a:r>
              <a:rPr lang="en-PH" sz="2400" dirty="0">
                <a:latin typeface="Arial" panose="020B0604020202020204" pitchFamily="34" charset="0"/>
                <a:cs typeface="Arial" panose="020B0604020202020204" pitchFamily="34" charset="0"/>
              </a:rPr>
              <a:t>	</a:t>
            </a:r>
          </a:p>
          <a:p>
            <a:pPr marL="0" indent="0">
              <a:buNone/>
            </a:pPr>
            <a:endParaRPr lang="en-PH" sz="2400" dirty="0">
              <a:latin typeface="Arial" panose="020B0604020202020204" pitchFamily="34" charset="0"/>
              <a:cs typeface="Arial" panose="020B0604020202020204" pitchFamily="34" charset="0"/>
            </a:endParaRPr>
          </a:p>
          <a:p>
            <a:pPr marL="633413" indent="88900">
              <a:buNone/>
            </a:pPr>
            <a:r>
              <a:rPr lang="en-PH" sz="2400" dirty="0">
                <a:latin typeface="Arial" panose="020B0604020202020204" pitchFamily="34" charset="0"/>
                <a:cs typeface="Arial" panose="020B0604020202020204" pitchFamily="34" charset="0"/>
              </a:rPr>
              <a:t>Obstacles:</a:t>
            </a:r>
          </a:p>
          <a:p>
            <a:pPr marL="722313"/>
            <a:r>
              <a:rPr lang="en-PH" sz="2400" dirty="0">
                <a:latin typeface="Arial" panose="020B0604020202020204" pitchFamily="34" charset="0"/>
                <a:cs typeface="Arial" panose="020B0604020202020204" pitchFamily="34" charset="0"/>
              </a:rPr>
              <a:t>Geography</a:t>
            </a:r>
          </a:p>
          <a:p>
            <a:pPr marL="722313"/>
            <a:r>
              <a:rPr lang="en-PH" sz="2400" dirty="0">
                <a:latin typeface="Arial" panose="020B0604020202020204" pitchFamily="34" charset="0"/>
                <a:cs typeface="Arial" panose="020B0604020202020204" pitchFamily="34" charset="0"/>
              </a:rPr>
              <a:t>Income</a:t>
            </a:r>
          </a:p>
          <a:p>
            <a:pPr marL="722313"/>
            <a:r>
              <a:rPr lang="en-PH" sz="2400" dirty="0">
                <a:latin typeface="Arial" panose="020B0604020202020204" pitchFamily="34" charset="0"/>
                <a:cs typeface="Arial" panose="020B0604020202020204" pitchFamily="34" charset="0"/>
              </a:rPr>
              <a:t>Ethnicity</a:t>
            </a:r>
          </a:p>
          <a:p>
            <a:pPr marL="722313"/>
            <a:r>
              <a:rPr lang="en-PH" sz="2400" dirty="0">
                <a:latin typeface="Arial" panose="020B0604020202020204" pitchFamily="34" charset="0"/>
                <a:cs typeface="Arial" panose="020B0604020202020204" pitchFamily="34" charset="0"/>
              </a:rPr>
              <a:t>Age</a:t>
            </a:r>
          </a:p>
          <a:p>
            <a:pPr marL="722313"/>
            <a:r>
              <a:rPr lang="en-PH" sz="2400" dirty="0">
                <a:latin typeface="Arial" panose="020B0604020202020204" pitchFamily="34" charset="0"/>
                <a:cs typeface="Arial" panose="020B0604020202020204" pitchFamily="34" charset="0"/>
              </a:rPr>
              <a:t>Education</a:t>
            </a:r>
          </a:p>
        </p:txBody>
      </p:sp>
      <p:sp>
        <p:nvSpPr>
          <p:cNvPr id="4" name="Date Placeholder 3">
            <a:extLst>
              <a:ext uri="{FF2B5EF4-FFF2-40B4-BE49-F238E27FC236}">
                <a16:creationId xmlns:a16="http://schemas.microsoft.com/office/drawing/2014/main" id="{4E6C9C4E-13B6-5741-E2A7-22E28B6516A0}"/>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4273987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Geography</a:t>
            </a:r>
          </a:p>
        </p:txBody>
      </p:sp>
      <p:sp>
        <p:nvSpPr>
          <p:cNvPr id="3" name="Content Placeholder 2"/>
          <p:cNvSpPr>
            <a:spLocks noGrp="1"/>
          </p:cNvSpPr>
          <p:nvPr>
            <p:ph idx="1"/>
          </p:nvPr>
        </p:nvSpPr>
        <p:spPr>
          <a:xfrm>
            <a:off x="265472" y="1313184"/>
            <a:ext cx="8878528" cy="3325760"/>
          </a:xfrm>
        </p:spPr>
        <p:txBody>
          <a:bodyPr>
            <a:normAutofit/>
          </a:bodyPr>
          <a:lstStyle/>
          <a:p>
            <a:pPr marL="0" indent="0">
              <a:buNone/>
            </a:pPr>
            <a:r>
              <a:rPr lang="en-US" sz="2400" dirty="0">
                <a:latin typeface="Arial" panose="020B0604020202020204" pitchFamily="34" charset="0"/>
                <a:cs typeface="Arial" panose="020B0604020202020204" pitchFamily="34" charset="0"/>
              </a:rPr>
              <a:t>There is a big digital divide between the rich industrialized countries and the poor, less industrialized countries. The poor, developing countries, geographically are more deprived of the access to information</a:t>
            </a:r>
          </a:p>
          <a:p>
            <a:pPr marL="0" indent="0">
              <a:buNone/>
            </a:pPr>
            <a:r>
              <a:rPr lang="en-US" sz="2400" b="1" dirty="0">
                <a:latin typeface="Arial" panose="020B0604020202020204" pitchFamily="34" charset="0"/>
                <a:cs typeface="Arial" panose="020B0604020202020204" pitchFamily="34" charset="0"/>
              </a:rPr>
              <a:t>Digital inclusion </a:t>
            </a:r>
            <a:r>
              <a:rPr lang="en-US" sz="2400" dirty="0">
                <a:latin typeface="Arial" panose="020B0604020202020204" pitchFamily="34" charset="0"/>
                <a:cs typeface="Arial" panose="020B0604020202020204" pitchFamily="34" charset="0"/>
              </a:rPr>
              <a:t>describes the effort to ensure that every individual and community has access to Information Communication Technology (ICT), along with the skills to make use of it. </a:t>
            </a:r>
          </a:p>
        </p:txBody>
      </p:sp>
      <p:sp>
        <p:nvSpPr>
          <p:cNvPr id="4" name="Date Placeholder 3">
            <a:extLst>
              <a:ext uri="{FF2B5EF4-FFF2-40B4-BE49-F238E27FC236}">
                <a16:creationId xmlns:a16="http://schemas.microsoft.com/office/drawing/2014/main" id="{746A2920-BE23-C469-ED5F-215E6DF556ED}"/>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583183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Geography</a:t>
            </a:r>
          </a:p>
        </p:txBody>
      </p:sp>
      <p:sp>
        <p:nvSpPr>
          <p:cNvPr id="3" name="Content Placeholder 2"/>
          <p:cNvSpPr>
            <a:spLocks noGrp="1"/>
          </p:cNvSpPr>
          <p:nvPr>
            <p:ph idx="1"/>
          </p:nvPr>
        </p:nvSpPr>
        <p:spPr>
          <a:xfrm>
            <a:off x="265472" y="1313184"/>
            <a:ext cx="8878528" cy="3325760"/>
          </a:xfrm>
        </p:spPr>
        <p:txBody>
          <a:bodyPr>
            <a:normAutofit/>
          </a:bodyPr>
          <a:lstStyle/>
          <a:p>
            <a:pPr marL="0" indent="0">
              <a:buNone/>
            </a:pPr>
            <a:r>
              <a:rPr lang="en-US" sz="2400" dirty="0">
                <a:latin typeface="Arial" panose="020B0604020202020204" pitchFamily="34" charset="0"/>
                <a:cs typeface="Arial" panose="020B0604020202020204" pitchFamily="34" charset="0"/>
              </a:rPr>
              <a:t>There is a big digital divide between the rich industrialized countries and the poor, less industrialized countries. The poor, developing countries, geographically are more deprived of the access to information</a:t>
            </a:r>
          </a:p>
          <a:p>
            <a:pPr marL="0" indent="0">
              <a:buNone/>
            </a:pPr>
            <a:r>
              <a:rPr lang="en-US" sz="2400" b="1" dirty="0">
                <a:latin typeface="Arial" panose="020B0604020202020204" pitchFamily="34" charset="0"/>
                <a:cs typeface="Arial" panose="020B0604020202020204" pitchFamily="34" charset="0"/>
              </a:rPr>
              <a:t>Digital inclusion </a:t>
            </a:r>
            <a:r>
              <a:rPr lang="en-US" sz="2400" dirty="0">
                <a:latin typeface="Arial" panose="020B0604020202020204" pitchFamily="34" charset="0"/>
                <a:cs typeface="Arial" panose="020B0604020202020204" pitchFamily="34" charset="0"/>
              </a:rPr>
              <a:t>describes the effort to ensure that every individual and community has access to Information Communication Technology (ICT), along with the skills to make use of it. </a:t>
            </a:r>
          </a:p>
        </p:txBody>
      </p:sp>
      <p:sp>
        <p:nvSpPr>
          <p:cNvPr id="4" name="Date Placeholder 3">
            <a:extLst>
              <a:ext uri="{FF2B5EF4-FFF2-40B4-BE49-F238E27FC236}">
                <a16:creationId xmlns:a16="http://schemas.microsoft.com/office/drawing/2014/main" id="{746A2920-BE23-C469-ED5F-215E6DF556ED}"/>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334397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Income</a:t>
            </a:r>
          </a:p>
        </p:txBody>
      </p:sp>
      <p:sp>
        <p:nvSpPr>
          <p:cNvPr id="3" name="Content Placeholder 2"/>
          <p:cNvSpPr>
            <a:spLocks noGrp="1"/>
          </p:cNvSpPr>
          <p:nvPr>
            <p:ph idx="1"/>
          </p:nvPr>
        </p:nvSpPr>
        <p:spPr>
          <a:xfrm>
            <a:off x="265472" y="1313184"/>
            <a:ext cx="8878528" cy="3325760"/>
          </a:xfrm>
        </p:spPr>
        <p:txBody>
          <a:bodyPr>
            <a:normAutofit/>
          </a:bodyPr>
          <a:lstStyle/>
          <a:p>
            <a:pPr>
              <a:buFontTx/>
              <a:buChar char="-"/>
            </a:pPr>
            <a:r>
              <a:rPr lang="en-PH" sz="2400" dirty="0">
                <a:latin typeface="Arial" panose="020B0604020202020204" pitchFamily="34" charset="0"/>
                <a:cs typeface="Arial" panose="020B0604020202020204" pitchFamily="34" charset="0"/>
              </a:rPr>
              <a:t>Greatest predictor of Internet and other ICT technologies’ use</a:t>
            </a:r>
          </a:p>
          <a:p>
            <a:pPr marL="0" indent="0">
              <a:buNone/>
            </a:pPr>
            <a:r>
              <a:rPr lang="en-PH" sz="2400" dirty="0">
                <a:latin typeface="Arial" panose="020B0604020202020204" pitchFamily="34" charset="0"/>
                <a:cs typeface="Arial" panose="020B0604020202020204" pitchFamily="34" charset="0"/>
              </a:rPr>
              <a:t>	Key findings (ICT):</a:t>
            </a:r>
          </a:p>
          <a:p>
            <a:pPr marL="722313"/>
            <a:r>
              <a:rPr lang="en-PH" sz="2400" dirty="0">
                <a:latin typeface="Arial" panose="020B0604020202020204" pitchFamily="34" charset="0"/>
                <a:cs typeface="Arial" panose="020B0604020202020204" pitchFamily="34" charset="0"/>
              </a:rPr>
              <a:t>Broadband at home</a:t>
            </a:r>
          </a:p>
          <a:p>
            <a:pPr marL="722313"/>
            <a:r>
              <a:rPr lang="en-PH" sz="2400" dirty="0">
                <a:latin typeface="Arial" panose="020B0604020202020204" pitchFamily="34" charset="0"/>
                <a:cs typeface="Arial" panose="020B0604020202020204" pitchFamily="34" charset="0"/>
              </a:rPr>
              <a:t>Internet use</a:t>
            </a:r>
          </a:p>
          <a:p>
            <a:pPr marL="722313"/>
            <a:r>
              <a:rPr lang="en-PH" sz="2400" dirty="0">
                <a:latin typeface="Arial" panose="020B0604020202020204" pitchFamily="34" charset="0"/>
                <a:cs typeface="Arial" panose="020B0604020202020204" pitchFamily="34" charset="0"/>
              </a:rPr>
              <a:t>Mobile phones ownership</a:t>
            </a:r>
            <a:endParaRPr lang="en-US" sz="2400" dirty="0">
              <a:latin typeface="Arial" panose="020B0604020202020204" pitchFamily="34" charset="0"/>
              <a:cs typeface="Arial" panose="020B0604020202020204" pitchFamily="34" charset="0"/>
            </a:endParaRPr>
          </a:p>
          <a:p>
            <a:endParaRPr lang="en-US" dirty="0"/>
          </a:p>
        </p:txBody>
      </p:sp>
      <p:sp>
        <p:nvSpPr>
          <p:cNvPr id="4" name="Date Placeholder 3">
            <a:extLst>
              <a:ext uri="{FF2B5EF4-FFF2-40B4-BE49-F238E27FC236}">
                <a16:creationId xmlns:a16="http://schemas.microsoft.com/office/drawing/2014/main" id="{D157B161-1388-9C59-8815-B0BB8C07F5AD}"/>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64458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Ethnicity</a:t>
            </a:r>
          </a:p>
        </p:txBody>
      </p:sp>
      <p:sp>
        <p:nvSpPr>
          <p:cNvPr id="3" name="Content Placeholder 2"/>
          <p:cNvSpPr>
            <a:spLocks noGrp="1"/>
          </p:cNvSpPr>
          <p:nvPr>
            <p:ph idx="1"/>
          </p:nvPr>
        </p:nvSpPr>
        <p:spPr>
          <a:xfrm>
            <a:off x="265472" y="1313184"/>
            <a:ext cx="8878528" cy="3325760"/>
          </a:xfrm>
        </p:spPr>
        <p:txBody>
          <a:bodyPr>
            <a:normAutofit/>
          </a:bodyPr>
          <a:lstStyle/>
          <a:p>
            <a:pPr>
              <a:buFontTx/>
              <a:buChar char="-"/>
            </a:pPr>
            <a:r>
              <a:rPr lang="en-PH" sz="2400" dirty="0">
                <a:latin typeface="Arial" panose="020B0604020202020204" pitchFamily="34" charset="0"/>
                <a:cs typeface="Arial" panose="020B0604020202020204" pitchFamily="34" charset="0"/>
              </a:rPr>
              <a:t>One’s ethnicity has a great influence on ICT access</a:t>
            </a:r>
          </a:p>
          <a:p>
            <a:pPr marL="0" indent="0" algn="just">
              <a:buNone/>
            </a:pPr>
            <a:r>
              <a:rPr lang="en-PH" sz="2400" dirty="0">
                <a:latin typeface="Arial" panose="020B0604020202020204" pitchFamily="34" charset="0"/>
                <a:cs typeface="Arial" panose="020B0604020202020204" pitchFamily="34" charset="0"/>
              </a:rPr>
              <a:t>	There have been interesting changes in the issue of ethnicity and access to ICT technologies. These dramatic changes have been brought about by the rapid changes in modern communication technologies, more specifically Internet-able mobile communication technologies.</a:t>
            </a:r>
            <a:endParaRPr lang="en-US" dirty="0"/>
          </a:p>
        </p:txBody>
      </p:sp>
      <p:sp>
        <p:nvSpPr>
          <p:cNvPr id="4" name="Date Placeholder 3">
            <a:extLst>
              <a:ext uri="{FF2B5EF4-FFF2-40B4-BE49-F238E27FC236}">
                <a16:creationId xmlns:a16="http://schemas.microsoft.com/office/drawing/2014/main" id="{9564693E-836F-C580-F252-85AB3A99A30B}"/>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4395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Age</a:t>
            </a:r>
          </a:p>
        </p:txBody>
      </p:sp>
      <p:sp>
        <p:nvSpPr>
          <p:cNvPr id="3" name="Content Placeholder 2"/>
          <p:cNvSpPr>
            <a:spLocks noGrp="1"/>
          </p:cNvSpPr>
          <p:nvPr>
            <p:ph idx="1"/>
          </p:nvPr>
        </p:nvSpPr>
        <p:spPr>
          <a:xfrm>
            <a:off x="265472" y="1313184"/>
            <a:ext cx="8878528" cy="3325760"/>
          </a:xfrm>
        </p:spPr>
        <p:txBody>
          <a:bodyPr>
            <a:normAutofit fontScale="92500" lnSpcReduction="20000"/>
          </a:bodyPr>
          <a:lstStyle/>
          <a:p>
            <a:pPr marL="722313"/>
            <a:r>
              <a:rPr lang="en-US" sz="2400" dirty="0">
                <a:latin typeface="Arial" panose="020B0604020202020204" pitchFamily="34" charset="0"/>
                <a:cs typeface="Arial" panose="020B0604020202020204" pitchFamily="34" charset="0"/>
              </a:rPr>
              <a:t>there were 85.16 million internet users in the Philippines at the start of 2023, when internet penetration stood at 73.1%.</a:t>
            </a:r>
          </a:p>
          <a:p>
            <a:pPr marL="722313"/>
            <a:r>
              <a:rPr lang="en-US" sz="2400" dirty="0">
                <a:latin typeface="Arial" panose="020B0604020202020204" pitchFamily="34" charset="0"/>
                <a:cs typeface="Arial" panose="020B0604020202020204" pitchFamily="34" charset="0"/>
              </a:rPr>
              <a:t>The Philippines was home to 84.45 million social media users in January 2023, equating to 72.5 percent of the total population.</a:t>
            </a:r>
          </a:p>
          <a:p>
            <a:pPr marL="722313"/>
            <a:r>
              <a:rPr lang="en-US" sz="2400" dirty="0">
                <a:latin typeface="Arial" panose="020B0604020202020204" pitchFamily="34" charset="0"/>
                <a:cs typeface="Arial" panose="020B0604020202020204" pitchFamily="34" charset="0"/>
              </a:rPr>
              <a:t>Filipinos have the highest average screen time spent on phones, and rank consistently high for average screen times on computers, social media and gaming.</a:t>
            </a:r>
          </a:p>
          <a:p>
            <a:pPr marL="722313"/>
            <a:r>
              <a:rPr lang="en-US" sz="2400" dirty="0">
                <a:latin typeface="Arial" panose="020B0604020202020204" pitchFamily="34" charset="0"/>
                <a:cs typeface="Arial" panose="020B0604020202020204" pitchFamily="34" charset="0"/>
              </a:rPr>
              <a:t>Filipinos spend nearly a third of their day (32.53%) on their phones</a:t>
            </a:r>
          </a:p>
          <a:p>
            <a:pPr marL="722313"/>
            <a:r>
              <a:rPr lang="en-US" sz="2400" dirty="0">
                <a:latin typeface="Arial" panose="020B0604020202020204" pitchFamily="34" charset="0"/>
                <a:cs typeface="Arial" panose="020B0604020202020204" pitchFamily="34" charset="0"/>
              </a:rPr>
              <a:t>younger people are more likely than older adults to own a phone in the Philippines (41%)</a:t>
            </a:r>
            <a:endParaRPr lang="en-PH" sz="2400" dirty="0">
              <a:latin typeface="Arial" panose="020B0604020202020204" pitchFamily="34" charset="0"/>
              <a:cs typeface="Arial" panose="020B0604020202020204" pitchFamily="34" charset="0"/>
            </a:endParaRPr>
          </a:p>
          <a:p>
            <a:pPr marL="0" indent="0">
              <a:buNone/>
            </a:pPr>
            <a:endParaRPr lang="en-US" dirty="0"/>
          </a:p>
        </p:txBody>
      </p:sp>
      <p:sp>
        <p:nvSpPr>
          <p:cNvPr id="4" name="Date Placeholder 3">
            <a:extLst>
              <a:ext uri="{FF2B5EF4-FFF2-40B4-BE49-F238E27FC236}">
                <a16:creationId xmlns:a16="http://schemas.microsoft.com/office/drawing/2014/main" id="{ADC8DA61-5E65-CA7B-B29B-5137A275832F}"/>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93679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Education</a:t>
            </a:r>
          </a:p>
        </p:txBody>
      </p:sp>
      <p:sp>
        <p:nvSpPr>
          <p:cNvPr id="3" name="Content Placeholder 2"/>
          <p:cNvSpPr>
            <a:spLocks noGrp="1"/>
          </p:cNvSpPr>
          <p:nvPr>
            <p:ph idx="1"/>
          </p:nvPr>
        </p:nvSpPr>
        <p:spPr>
          <a:xfrm>
            <a:off x="265472" y="1313184"/>
            <a:ext cx="8878528" cy="3325760"/>
          </a:xfrm>
        </p:spPr>
        <p:txBody>
          <a:bodyPr>
            <a:normAutofit/>
          </a:bodyPr>
          <a:lstStyle/>
          <a:p>
            <a:pPr marL="0" indent="0">
              <a:buNone/>
            </a:pPr>
            <a:r>
              <a:rPr lang="en-US" sz="2400" dirty="0">
                <a:latin typeface="Arial" panose="020B0604020202020204" pitchFamily="34" charset="0"/>
                <a:cs typeface="Arial" panose="020B0604020202020204" pitchFamily="34" charset="0"/>
              </a:rPr>
              <a:t>The profound impact of the educational digital divide on students' overall development, safety, and welfare, as well as their potential for present and future success, has led numerous community and business leaders to consider addressing this issue at a local level</a:t>
            </a:r>
          </a:p>
          <a:p>
            <a:r>
              <a:rPr lang="en-US" sz="2400" dirty="0">
                <a:latin typeface="Arial" panose="020B0604020202020204" pitchFamily="34" charset="0"/>
                <a:cs typeface="Arial" panose="020B0604020202020204" pitchFamily="34" charset="0"/>
              </a:rPr>
              <a:t>Universal Connectivity/Enhancing Connectivity</a:t>
            </a:r>
          </a:p>
          <a:p>
            <a:r>
              <a:rPr lang="en-US" sz="2400" dirty="0">
                <a:latin typeface="Arial" panose="020B0604020202020204" pitchFamily="34" charset="0"/>
                <a:cs typeface="Arial" panose="020B0604020202020204" pitchFamily="34" charset="0"/>
              </a:rPr>
              <a:t>Adaptable Educational Platforms</a:t>
            </a:r>
          </a:p>
          <a:p>
            <a:r>
              <a:rPr lang="en-US" sz="2400" dirty="0">
                <a:latin typeface="Arial" panose="020B0604020202020204" pitchFamily="34" charset="0"/>
                <a:cs typeface="Arial" panose="020B0604020202020204" pitchFamily="34" charset="0"/>
              </a:rPr>
              <a:t>Engaging with Families on an Individual Basis</a:t>
            </a:r>
          </a:p>
          <a:p>
            <a:pPr marL="0" indent="0">
              <a:buNone/>
            </a:pP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F050C06-7455-E8A9-38DF-152103F259FA}"/>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427798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0013" y="117690"/>
            <a:ext cx="2403987" cy="763526"/>
          </a:xfrm>
        </p:spPr>
        <p:txBody>
          <a:bodyPr>
            <a:normAutofit fontScale="90000"/>
          </a:bodyPr>
          <a:lstStyle/>
          <a:p>
            <a:r>
              <a:rPr lang="en-US" sz="3200" b="1" dirty="0">
                <a:solidFill>
                  <a:schemeClr val="tx2">
                    <a:lumMod val="75000"/>
                  </a:schemeClr>
                </a:solidFill>
                <a:effectLst/>
                <a:latin typeface="Arial" panose="020B0604020202020204" pitchFamily="34" charset="0"/>
                <a:cs typeface="Arial" panose="020B0604020202020204" pitchFamily="34" charset="0"/>
              </a:rPr>
              <a:t>Technology</a:t>
            </a:r>
          </a:p>
        </p:txBody>
      </p:sp>
      <p:sp>
        <p:nvSpPr>
          <p:cNvPr id="3" name="Content Placeholder 2"/>
          <p:cNvSpPr>
            <a:spLocks noGrp="1"/>
          </p:cNvSpPr>
          <p:nvPr>
            <p:ph idx="1"/>
          </p:nvPr>
        </p:nvSpPr>
        <p:spPr>
          <a:xfrm>
            <a:off x="265472" y="1313184"/>
            <a:ext cx="8878528" cy="2949100"/>
          </a:xfrm>
        </p:spPr>
        <p:txBody>
          <a:bodyPr numCol="1">
            <a:normAutofit/>
          </a:bodyPr>
          <a:lstStyle/>
          <a:p>
            <a:pPr marL="0" indent="0">
              <a:buNone/>
            </a:pPr>
            <a:r>
              <a:rPr lang="en-US" sz="2400" dirty="0">
                <a:latin typeface="Arial" panose="020B0604020202020204" pitchFamily="34" charset="0"/>
                <a:cs typeface="Arial" panose="020B0604020202020204" pitchFamily="34" charset="0"/>
              </a:rPr>
              <a:t>Technology is shaping our contemporary society. Here are several ways in which it is enhancing our everyday existence:</a:t>
            </a:r>
          </a:p>
          <a:p>
            <a:r>
              <a:rPr lang="en-US" sz="2400" dirty="0">
                <a:latin typeface="Arial" panose="020B0604020202020204" pitchFamily="34" charset="0"/>
                <a:cs typeface="Arial" panose="020B0604020202020204" pitchFamily="34" charset="0"/>
              </a:rPr>
              <a:t>Enhancing Business Efficiency</a:t>
            </a:r>
          </a:p>
          <a:p>
            <a:r>
              <a:rPr lang="en-US" sz="2400" dirty="0">
                <a:latin typeface="Arial" panose="020B0604020202020204" pitchFamily="34" charset="0"/>
                <a:cs typeface="Arial" panose="020B0604020202020204" pitchFamily="34" charset="0"/>
              </a:rPr>
              <a:t>Enhanced Communication Speed</a:t>
            </a:r>
          </a:p>
          <a:p>
            <a:r>
              <a:rPr lang="en-US" sz="2400" dirty="0">
                <a:latin typeface="Arial" panose="020B0604020202020204" pitchFamily="34" charset="0"/>
                <a:cs typeface="Arial" panose="020B0604020202020204" pitchFamily="34" charset="0"/>
              </a:rPr>
              <a:t>Advanced Lifestyle</a:t>
            </a:r>
          </a:p>
          <a:p>
            <a:r>
              <a:rPr lang="en-US" sz="2400" dirty="0">
                <a:latin typeface="Arial" panose="020B0604020202020204" pitchFamily="34" charset="0"/>
                <a:cs typeface="Arial" panose="020B0604020202020204" pitchFamily="34" charset="0"/>
              </a:rPr>
              <a:t>Information Availability</a:t>
            </a:r>
            <a:endParaRPr lang="en-PH"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80AD601E-5252-F110-A221-DECA5328FBA0}"/>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841127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Hardware</a:t>
            </a: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There has been a steady increase in the number of computers, telephones, and other modern communication technologies in almost all countries of the world in the last couple of years, quantity, quality, and maintenance of these technologies are still a big problem, challenging the narrowing of the ICT digital divide</a:t>
            </a: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5C3EF9D9-F934-3290-7F2F-24BA3A51B09F}"/>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52669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Software</a:t>
            </a: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Countries that have seen benefits from ICT, either produce their own software or they have enough financial capacity to source software with few problems. This is not the case in many developing countries.</a:t>
            </a:r>
            <a:endParaRPr lang="en-US"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083DE36-9704-61E7-A60D-8CB4B6BDEF4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3492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0544" y="117690"/>
            <a:ext cx="3465871" cy="763526"/>
          </a:xfrm>
        </p:spPr>
        <p:txBody>
          <a:bodyPr>
            <a:normAutofit fontScale="90000"/>
          </a:bodyPr>
          <a:lstStyle/>
          <a:p>
            <a:r>
              <a:rPr lang="en-US" sz="3200" b="1" dirty="0" err="1">
                <a:solidFill>
                  <a:schemeClr val="accent1">
                    <a:lumMod val="50000"/>
                  </a:schemeClr>
                </a:solidFill>
                <a:effectLst/>
                <a:latin typeface="Arial" panose="020B0604020202020204" pitchFamily="34" charset="0"/>
                <a:cs typeface="Arial" panose="020B0604020202020204" pitchFamily="34" charset="0"/>
              </a:rPr>
              <a:t>Humanware</a:t>
            </a:r>
            <a:br>
              <a:rPr lang="en-US" sz="3200" b="1" dirty="0">
                <a:effectLst/>
                <a:latin typeface="Arial" panose="020B0604020202020204" pitchFamily="34" charset="0"/>
                <a:cs typeface="Arial" panose="020B0604020202020204" pitchFamily="34" charset="0"/>
              </a:rPr>
            </a:br>
            <a:r>
              <a:rPr lang="en-US" sz="3200" b="1" dirty="0">
                <a:effectLst/>
                <a:latin typeface="Arial" panose="020B0604020202020204" pitchFamily="34" charset="0"/>
                <a:cs typeface="Arial" panose="020B0604020202020204" pitchFamily="34" charset="0"/>
              </a:rPr>
              <a:t>(Human </a:t>
            </a:r>
            <a:r>
              <a:rPr lang="en-US" sz="3200" b="1" dirty="0">
                <a:solidFill>
                  <a:schemeClr val="tx2">
                    <a:lumMod val="75000"/>
                  </a:schemeClr>
                </a:solidFill>
                <a:effectLst/>
                <a:latin typeface="Arial" panose="020B0604020202020204" pitchFamily="34" charset="0"/>
                <a:cs typeface="Arial" panose="020B0604020202020204" pitchFamily="34" charset="0"/>
              </a:rPr>
              <a:t>Capacity)</a:t>
            </a:r>
          </a:p>
        </p:txBody>
      </p:sp>
      <p:sp>
        <p:nvSpPr>
          <p:cNvPr id="3" name="Content Placeholder 2"/>
          <p:cNvSpPr>
            <a:spLocks noGrp="1"/>
          </p:cNvSpPr>
          <p:nvPr>
            <p:ph idx="1"/>
          </p:nvPr>
        </p:nvSpPr>
        <p:spPr>
          <a:xfrm>
            <a:off x="265472" y="1313184"/>
            <a:ext cx="8608705" cy="2949100"/>
          </a:xfrm>
        </p:spPr>
        <p:txBody>
          <a:bodyPr numCol="1">
            <a:normAutofit fontScale="77500" lnSpcReduction="20000"/>
          </a:bodyPr>
          <a:lstStyle/>
          <a:p>
            <a:pPr marL="0" indent="0" algn="just">
              <a:buNone/>
            </a:pPr>
            <a:r>
              <a:rPr lang="en-PH" sz="2400" dirty="0">
                <a:latin typeface="Arial" panose="020B0604020202020204" pitchFamily="34" charset="0"/>
                <a:cs typeface="Arial" panose="020B0604020202020204" pitchFamily="34" charset="0"/>
              </a:rPr>
              <a:t>Human capacity development is complex usually consisting of many parts including:</a:t>
            </a:r>
          </a:p>
          <a:p>
            <a:pPr marL="719138" algn="just"/>
            <a:r>
              <a:rPr lang="en-PH" sz="2400" dirty="0">
                <a:latin typeface="Arial" panose="020B0604020202020204" pitchFamily="34" charset="0"/>
                <a:cs typeface="Arial" panose="020B0604020202020204" pitchFamily="34" charset="0"/>
              </a:rPr>
              <a:t>Creating awareness of the potential for ICT to meet one’s needs</a:t>
            </a:r>
          </a:p>
          <a:p>
            <a:pPr marL="719138" algn="just"/>
            <a:r>
              <a:rPr lang="en-PH" sz="2400" dirty="0">
                <a:latin typeface="Arial" panose="020B0604020202020204" pitchFamily="34" charset="0"/>
                <a:cs typeface="Arial" panose="020B0604020202020204" pitchFamily="34" charset="0"/>
              </a:rPr>
              <a:t>Creating, developing, and strengthening capacity to use information and ICT effectively, using local inputs</a:t>
            </a:r>
          </a:p>
          <a:p>
            <a:pPr marL="719138" algn="just"/>
            <a:r>
              <a:rPr lang="en-PH" sz="2400" dirty="0">
                <a:latin typeface="Arial" panose="020B0604020202020204" pitchFamily="34" charset="0"/>
                <a:cs typeface="Arial" panose="020B0604020202020204" pitchFamily="34" charset="0"/>
              </a:rPr>
              <a:t>Building capacity to produce and package information so that it adds value to local inputs</a:t>
            </a:r>
          </a:p>
          <a:p>
            <a:pPr marL="719138" algn="just"/>
            <a:r>
              <a:rPr lang="en-PH" sz="2400" dirty="0">
                <a:latin typeface="Arial" panose="020B0604020202020204" pitchFamily="34" charset="0"/>
                <a:cs typeface="Arial" panose="020B0604020202020204" pitchFamily="34" charset="0"/>
              </a:rPr>
              <a:t>Ensuring ongoing technical capacity development and developing a format for knowledge and information sharing</a:t>
            </a:r>
          </a:p>
          <a:p>
            <a:pPr marL="719138" algn="just"/>
            <a:r>
              <a:rPr lang="en-PH" sz="2400" dirty="0">
                <a:latin typeface="Arial" panose="020B0604020202020204" pitchFamily="34" charset="0"/>
                <a:cs typeface="Arial" panose="020B0604020202020204" pitchFamily="34" charset="0"/>
              </a:rPr>
              <a:t>Preventing the local capacity from being drained to other, usually developed countries.</a:t>
            </a:r>
          </a:p>
          <a:p>
            <a:pPr marL="0" indent="0" algn="just">
              <a:buNone/>
            </a:pPr>
            <a:endParaRPr lang="en-PH"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C6DE7F0C-0C44-D2BC-F0AE-ABC32D456A8D}"/>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991911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5258" y="0"/>
            <a:ext cx="3465871" cy="763526"/>
          </a:xfrm>
        </p:spPr>
        <p:txBody>
          <a:bodyPr>
            <a:normAutofit/>
          </a:bodyPr>
          <a:lstStyle/>
          <a:p>
            <a:r>
              <a:rPr lang="en-US" sz="3200" b="1" dirty="0">
                <a:solidFill>
                  <a:schemeClr val="accent1">
                    <a:lumMod val="50000"/>
                  </a:schemeClr>
                </a:solidFill>
                <a:effectLst/>
                <a:latin typeface="Arial" panose="020B0604020202020204" pitchFamily="34" charset="0"/>
                <a:cs typeface="Arial" panose="020B0604020202020204" pitchFamily="34" charset="0"/>
              </a:rPr>
              <a:t>Infrastructure</a:t>
            </a:r>
            <a:endParaRPr lang="en-US" sz="3200" b="1" dirty="0">
              <a:solidFill>
                <a:schemeClr val="tx2">
                  <a:lumMod val="75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08705" cy="2949100"/>
          </a:xfrm>
        </p:spPr>
        <p:txBody>
          <a:bodyPr numCol="1">
            <a:normAutofit/>
          </a:bodyPr>
          <a:lstStyle/>
          <a:p>
            <a:pPr algn="just">
              <a:buFontTx/>
              <a:buChar char="-"/>
            </a:pPr>
            <a:r>
              <a:rPr lang="en-PH" sz="2400" dirty="0">
                <a:latin typeface="Arial" panose="020B0604020202020204" pitchFamily="34" charset="0"/>
                <a:cs typeface="Arial" panose="020B0604020202020204" pitchFamily="34" charset="0"/>
              </a:rPr>
              <a:t>Fixed communication structures</a:t>
            </a:r>
          </a:p>
          <a:p>
            <a:pPr algn="just">
              <a:buFontTx/>
              <a:buChar char="-"/>
            </a:pPr>
            <a:r>
              <a:rPr lang="en-PH" sz="2400" dirty="0">
                <a:latin typeface="Arial" panose="020B0604020202020204" pitchFamily="34" charset="0"/>
                <a:cs typeface="Arial" panose="020B0604020202020204" pitchFamily="34" charset="0"/>
              </a:rPr>
              <a:t>The availability of these resources helps to speed up the development of ICT </a:t>
            </a:r>
          </a:p>
          <a:p>
            <a:pPr marL="0" indent="0" algn="just">
              <a:buNone/>
            </a:pPr>
            <a:endParaRPr lang="en-PH"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D37AFDCE-0080-44D3-767B-BE1C5AEE7E5F}"/>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0602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0150" y="117690"/>
            <a:ext cx="3465871" cy="763526"/>
          </a:xfrm>
        </p:spPr>
        <p:txBody>
          <a:bodyPr>
            <a:normAutofit fontScale="90000"/>
          </a:bodyPr>
          <a:lstStyle/>
          <a:p>
            <a:r>
              <a:rPr lang="en-US" sz="3200" b="1" dirty="0">
                <a:solidFill>
                  <a:schemeClr val="accent1">
                    <a:lumMod val="50000"/>
                  </a:schemeClr>
                </a:solidFill>
                <a:effectLst/>
                <a:latin typeface="Arial" panose="020B0604020202020204" pitchFamily="34" charset="0"/>
                <a:cs typeface="Arial" panose="020B0604020202020204" pitchFamily="34" charset="0"/>
              </a:rPr>
              <a:t>Enabling Environments</a:t>
            </a:r>
            <a:endParaRPr lang="en-US" sz="3200" b="1" dirty="0">
              <a:solidFill>
                <a:schemeClr val="tx2">
                  <a:lumMod val="75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08705" cy="2949100"/>
          </a:xfrm>
        </p:spPr>
        <p:txBody>
          <a:bodyPr numCol="1">
            <a:normAutofit/>
          </a:bodyPr>
          <a:lstStyle/>
          <a:p>
            <a:pPr marL="0" indent="0" algn="just">
              <a:buNone/>
            </a:pPr>
            <a:r>
              <a:rPr lang="en-PH" sz="2400" dirty="0">
                <a:latin typeface="Arial" panose="020B0604020202020204" pitchFamily="34" charset="0"/>
                <a:cs typeface="Arial" panose="020B0604020202020204" pitchFamily="34" charset="0"/>
              </a:rPr>
              <a:t>An ICT-enabling environment is an environment in which ICT can thrive. There are several things that can bring about such an environment, including :</a:t>
            </a:r>
          </a:p>
          <a:p>
            <a:pPr algn="just"/>
            <a:r>
              <a:rPr lang="en-PH" sz="2400" dirty="0">
                <a:latin typeface="Arial" panose="020B0604020202020204" pitchFamily="34" charset="0"/>
                <a:cs typeface="Arial" panose="020B0604020202020204" pitchFamily="34" charset="0"/>
              </a:rPr>
              <a:t>politics</a:t>
            </a:r>
          </a:p>
          <a:p>
            <a:pPr algn="just"/>
            <a:r>
              <a:rPr lang="en-PH" sz="2400" dirty="0">
                <a:latin typeface="Arial" panose="020B0604020202020204" pitchFamily="34" charset="0"/>
                <a:cs typeface="Arial" panose="020B0604020202020204" pitchFamily="34" charset="0"/>
              </a:rPr>
              <a:t>public policy and management styles</a:t>
            </a:r>
          </a:p>
        </p:txBody>
      </p:sp>
      <p:sp>
        <p:nvSpPr>
          <p:cNvPr id="4" name="Date Placeholder 3">
            <a:extLst>
              <a:ext uri="{FF2B5EF4-FFF2-40B4-BE49-F238E27FC236}">
                <a16:creationId xmlns:a16="http://schemas.microsoft.com/office/drawing/2014/main" id="{DED94E43-30B4-E04D-8A6B-C1ACD5715112}"/>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22310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US" sz="3200" b="1" dirty="0">
                <a:effectLst/>
                <a:latin typeface="Arial" panose="020B0604020202020204" pitchFamily="34" charset="0"/>
                <a:cs typeface="Arial" panose="020B0604020202020204" pitchFamily="34" charset="0"/>
              </a:rPr>
              <a:t>Politics</a:t>
            </a: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ICT thrives in a good political environment that ensures:</a:t>
            </a:r>
          </a:p>
          <a:p>
            <a:pPr marL="722313" algn="just"/>
            <a:r>
              <a:rPr lang="en-PH" sz="2400" dirty="0">
                <a:latin typeface="Arial" panose="020B0604020202020204" pitchFamily="34" charset="0"/>
                <a:cs typeface="Arial" panose="020B0604020202020204" pitchFamily="34" charset="0"/>
              </a:rPr>
              <a:t>A climate of democratic rights and civil liberties conducive to ICT adaptation</a:t>
            </a:r>
          </a:p>
          <a:p>
            <a:pPr marL="722313" algn="just"/>
            <a:r>
              <a:rPr lang="en-PH" sz="2400" dirty="0">
                <a:latin typeface="Arial" panose="020B0604020202020204" pitchFamily="34" charset="0"/>
                <a:cs typeface="Arial" panose="020B0604020202020204" pitchFamily="34" charset="0"/>
              </a:rPr>
              <a:t>Respect for the rule of law and security of property rights</a:t>
            </a:r>
          </a:p>
          <a:p>
            <a:pPr marL="722313" algn="just"/>
            <a:r>
              <a:rPr lang="en-PH" sz="2400" dirty="0">
                <a:latin typeface="Arial" panose="020B0604020202020204" pitchFamily="34" charset="0"/>
                <a:cs typeface="Arial" panose="020B0604020202020204" pitchFamily="34" charset="0"/>
              </a:rPr>
              <a:t>Investment in human capacity</a:t>
            </a:r>
          </a:p>
          <a:p>
            <a:pPr marL="722313" algn="just"/>
            <a:r>
              <a:rPr lang="en-PH" sz="2400" dirty="0">
                <a:latin typeface="Arial" panose="020B0604020202020204" pitchFamily="34" charset="0"/>
                <a:cs typeface="Arial" panose="020B0604020202020204" pitchFamily="34" charset="0"/>
              </a:rPr>
              <a:t>Low levels of government distortions.</a:t>
            </a:r>
          </a:p>
        </p:txBody>
      </p:sp>
      <p:sp>
        <p:nvSpPr>
          <p:cNvPr id="4" name="Date Placeholder 3">
            <a:extLst>
              <a:ext uri="{FF2B5EF4-FFF2-40B4-BE49-F238E27FC236}">
                <a16:creationId xmlns:a16="http://schemas.microsoft.com/office/drawing/2014/main" id="{9C23F81A-31DF-30BC-6D11-FC4237EADB88}"/>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105791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07" y="504556"/>
            <a:ext cx="8259098" cy="763526"/>
          </a:xfrm>
        </p:spPr>
        <p:txBody>
          <a:bodyPr>
            <a:normAutofit/>
          </a:bodyPr>
          <a:lstStyle/>
          <a:p>
            <a:r>
              <a:rPr lang="en-PH" sz="3200" b="1" dirty="0">
                <a:effectLst/>
                <a:latin typeface="Arial" panose="020B0604020202020204" pitchFamily="34" charset="0"/>
                <a:cs typeface="Arial" panose="020B0604020202020204" pitchFamily="34" charset="0"/>
              </a:rPr>
              <a:t>Public Policy and </a:t>
            </a:r>
            <a:r>
              <a:rPr lang="en-PH" sz="3200" b="1" dirty="0">
                <a:solidFill>
                  <a:schemeClr val="accent1">
                    <a:lumMod val="50000"/>
                  </a:schemeClr>
                </a:solidFill>
                <a:effectLst/>
                <a:latin typeface="Arial" panose="020B0604020202020204" pitchFamily="34" charset="0"/>
                <a:cs typeface="Arial" panose="020B0604020202020204" pitchFamily="34" charset="0"/>
              </a:rPr>
              <a:t>Managemen</a:t>
            </a:r>
            <a:r>
              <a:rPr lang="en-PH" sz="3200" b="1" dirty="0">
                <a:effectLst/>
                <a:latin typeface="Arial" panose="020B0604020202020204" pitchFamily="34" charset="0"/>
                <a:cs typeface="Arial" panose="020B0604020202020204" pitchFamily="34" charset="0"/>
              </a:rPr>
              <a:t>t St</a:t>
            </a:r>
            <a:r>
              <a:rPr lang="en-PH" sz="3200" b="1" dirty="0">
                <a:solidFill>
                  <a:schemeClr val="accent2">
                    <a:lumMod val="50000"/>
                  </a:schemeClr>
                </a:solidFill>
                <a:effectLst/>
                <a:latin typeface="Arial" panose="020B0604020202020204" pitchFamily="34" charset="0"/>
                <a:cs typeface="Arial" panose="020B0604020202020204" pitchFamily="34" charset="0"/>
              </a:rPr>
              <a:t>yles</a:t>
            </a:r>
            <a:endParaRPr lang="en-US" sz="3200" b="1" dirty="0">
              <a:solidFill>
                <a:schemeClr val="accent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fontScale="92500" lnSpcReduction="20000"/>
          </a:bodyPr>
          <a:lstStyle/>
          <a:p>
            <a:pPr marL="0" indent="0" algn="just">
              <a:buNone/>
            </a:pPr>
            <a:r>
              <a:rPr lang="en-PH" sz="2400" dirty="0">
                <a:latin typeface="Arial" panose="020B0604020202020204" pitchFamily="34" charset="0"/>
                <a:cs typeface="Arial" panose="020B0604020202020204" pitchFamily="34" charset="0"/>
              </a:rPr>
              <a:t>There are currently ICT-related laws and policies on the books which are not enforced. Such policies must be updated where necessary and enforced strictly and fairly. New competitive policies such as the liberalization of the telecommunication and energy sectors must be developed, and the sectors must be staffed with competent managers with appropriate expertise. These ICT regulatory policies need to be efficient, predictable, and easy to understand. Licensing bodies need to be efficient and staffed with professionals. In addition, there must be government support for taxing policies. Finally, there must be transparency in government to create a moral bar for the rest of the country.</a:t>
            </a:r>
          </a:p>
        </p:txBody>
      </p:sp>
      <p:sp>
        <p:nvSpPr>
          <p:cNvPr id="4" name="Date Placeholder 3">
            <a:extLst>
              <a:ext uri="{FF2B5EF4-FFF2-40B4-BE49-F238E27FC236}">
                <a16:creationId xmlns:a16="http://schemas.microsoft.com/office/drawing/2014/main" id="{29DD4259-3FEC-1FB5-4E92-0B4FF116CE74}"/>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666077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2434" y="0"/>
            <a:ext cx="5918696" cy="763526"/>
          </a:xfrm>
        </p:spPr>
        <p:txBody>
          <a:bodyPr>
            <a:normAutofit fontScale="90000"/>
          </a:bodyPr>
          <a:lstStyle/>
          <a:p>
            <a:r>
              <a:rPr lang="en-PH" sz="3200" b="1" dirty="0">
                <a:solidFill>
                  <a:schemeClr val="tx2">
                    <a:lumMod val="50000"/>
                  </a:schemeClr>
                </a:solidFill>
                <a:effectLst/>
                <a:highlight>
                  <a:srgbClr val="5DD5FF"/>
                </a:highlight>
                <a:latin typeface="Arial" panose="020B0604020202020204" pitchFamily="34" charset="0"/>
                <a:cs typeface="Arial" panose="020B0604020202020204" pitchFamily="34" charset="0"/>
              </a:rPr>
              <a:t>Obstacles to Overcoming the Digital Divide</a:t>
            </a:r>
            <a:endParaRPr lang="en-US" sz="3200" b="1" dirty="0">
              <a:solidFill>
                <a:schemeClr val="tx2">
                  <a:lumMod val="50000"/>
                </a:schemeClr>
              </a:solidFill>
              <a:effectLst/>
              <a:highlight>
                <a:srgbClr val="5DD5FF"/>
              </a:highligh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 y="763526"/>
            <a:ext cx="4197246" cy="465667"/>
          </a:xfrm>
        </p:spPr>
        <p:txBody>
          <a:bodyPr numCol="1">
            <a:normAutofit/>
          </a:bodyPr>
          <a:lstStyle/>
          <a:p>
            <a:pPr algn="just">
              <a:buFontTx/>
              <a:buChar char="-"/>
            </a:pPr>
            <a:r>
              <a:rPr lang="en-PH" sz="2400" dirty="0">
                <a:latin typeface="Arial" panose="020B0604020202020204" pitchFamily="34" charset="0"/>
                <a:cs typeface="Arial" panose="020B0604020202020204" pitchFamily="34" charset="0"/>
              </a:rPr>
              <a:t>digital divide requires</a:t>
            </a:r>
          </a:p>
        </p:txBody>
      </p:sp>
      <p:sp>
        <p:nvSpPr>
          <p:cNvPr id="4" name="Content Placeholder 2">
            <a:extLst>
              <a:ext uri="{FF2B5EF4-FFF2-40B4-BE49-F238E27FC236}">
                <a16:creationId xmlns:a16="http://schemas.microsoft.com/office/drawing/2014/main" id="{0E0A3F0D-B154-4F79-8D6F-7E60AF45ABF1}"/>
              </a:ext>
            </a:extLst>
          </p:cNvPr>
          <p:cNvSpPr txBox="1">
            <a:spLocks/>
          </p:cNvSpPr>
          <p:nvPr/>
        </p:nvSpPr>
        <p:spPr>
          <a:xfrm>
            <a:off x="374754" y="1097200"/>
            <a:ext cx="6385810" cy="2949100"/>
          </a:xfrm>
          <a:prstGeom prst="rect">
            <a:avLst/>
          </a:prstGeom>
        </p:spPr>
        <p:txBody>
          <a:bodyPr vert="horz" lIns="91440" tIns="45720" rIns="91440" bIns="45720" numCol="1" rtlCol="0">
            <a:normAutofit/>
          </a:bodyPr>
          <a:lstStyle>
            <a:lvl1pPr marL="342900" indent="-34290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PH" sz="2400" dirty="0">
                <a:latin typeface="Arial" panose="020B0604020202020204" pitchFamily="34" charset="0"/>
                <a:cs typeface="Arial" panose="020B0604020202020204" pitchFamily="34" charset="0"/>
              </a:rPr>
              <a:t>considerable efforts and a plan in addressing the following types of access:</a:t>
            </a:r>
          </a:p>
          <a:p>
            <a:pPr algn="just"/>
            <a:r>
              <a:rPr lang="en-GB" sz="2400" dirty="0">
                <a:latin typeface="Arial" panose="020B0604020202020204" pitchFamily="34" charset="0"/>
                <a:cs typeface="Arial" panose="020B0604020202020204" pitchFamily="34" charset="0"/>
              </a:rPr>
              <a:t>Physical access</a:t>
            </a:r>
          </a:p>
          <a:p>
            <a:pPr algn="just"/>
            <a:r>
              <a:rPr lang="en-GB" sz="2400" dirty="0">
                <a:latin typeface="Arial" panose="020B0604020202020204" pitchFamily="34" charset="0"/>
                <a:cs typeface="Arial" panose="020B0604020202020204" pitchFamily="34" charset="0"/>
              </a:rPr>
              <a:t>Financial access</a:t>
            </a:r>
          </a:p>
          <a:p>
            <a:pPr algn="just"/>
            <a:r>
              <a:rPr lang="en-GB" sz="2400" dirty="0">
                <a:latin typeface="Arial" panose="020B0604020202020204" pitchFamily="34" charset="0"/>
                <a:cs typeface="Arial" panose="020B0604020202020204" pitchFamily="34" charset="0"/>
              </a:rPr>
              <a:t>Political access</a:t>
            </a:r>
          </a:p>
          <a:p>
            <a:pPr algn="just"/>
            <a:r>
              <a:rPr lang="en-GB" sz="2400" dirty="0">
                <a:latin typeface="Arial" panose="020B0604020202020204" pitchFamily="34" charset="0"/>
                <a:cs typeface="Arial" panose="020B0604020202020204" pitchFamily="34" charset="0"/>
              </a:rPr>
              <a:t>Cultural access</a:t>
            </a:r>
            <a:endParaRPr lang="en-PH" sz="2400" dirty="0">
              <a:latin typeface="Arial" panose="020B0604020202020204" pitchFamily="34" charset="0"/>
              <a:cs typeface="Arial" panose="020B0604020202020204" pitchFamily="34" charset="0"/>
            </a:endParaRPr>
          </a:p>
        </p:txBody>
      </p:sp>
      <p:sp>
        <p:nvSpPr>
          <p:cNvPr id="5" name="Date Placeholder 4">
            <a:extLst>
              <a:ext uri="{FF2B5EF4-FFF2-40B4-BE49-F238E27FC236}">
                <a16:creationId xmlns:a16="http://schemas.microsoft.com/office/drawing/2014/main" id="{80D1BF7E-B9C3-33A4-4B06-C96D2F601940}"/>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4214949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6755" y="0"/>
            <a:ext cx="4929346" cy="763526"/>
          </a:xfrm>
        </p:spPr>
        <p:txBody>
          <a:bodyPr>
            <a:normAutofit/>
          </a:bodyPr>
          <a:lstStyle/>
          <a:p>
            <a:r>
              <a:rPr lang="en-PH" sz="3200" b="1" dirty="0">
                <a:solidFill>
                  <a:schemeClr val="tx2">
                    <a:lumMod val="50000"/>
                  </a:schemeClr>
                </a:solidFill>
                <a:effectLst/>
                <a:highlight>
                  <a:srgbClr val="5DD5FF"/>
                </a:highlight>
                <a:latin typeface="Arial" panose="020B0604020202020204" pitchFamily="34" charset="0"/>
                <a:cs typeface="Arial" panose="020B0604020202020204" pitchFamily="34" charset="0"/>
              </a:rPr>
              <a:t>ICT in the Workplace</a:t>
            </a:r>
            <a:endParaRPr lang="en-US" sz="3200" b="1" dirty="0">
              <a:solidFill>
                <a:schemeClr val="tx2">
                  <a:lumMod val="50000"/>
                </a:schemeClr>
              </a:solidFill>
              <a:effectLst/>
              <a:highlight>
                <a:srgbClr val="5DD5FF"/>
              </a:highlight>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0E0A3F0D-B154-4F79-8D6F-7E60AF45ABF1}"/>
              </a:ext>
            </a:extLst>
          </p:cNvPr>
          <p:cNvSpPr txBox="1">
            <a:spLocks/>
          </p:cNvSpPr>
          <p:nvPr/>
        </p:nvSpPr>
        <p:spPr>
          <a:xfrm>
            <a:off x="224852" y="1337042"/>
            <a:ext cx="8739266" cy="2949100"/>
          </a:xfrm>
          <a:prstGeom prst="rect">
            <a:avLst/>
          </a:prstGeom>
        </p:spPr>
        <p:txBody>
          <a:bodyPr vert="horz" lIns="91440" tIns="45720" rIns="91440" bIns="45720" numCol="1" rtlCol="0">
            <a:normAutofit/>
          </a:bodyPr>
          <a:lstStyle>
            <a:lvl1pPr marL="342900" indent="-34290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PH" sz="2400" dirty="0">
                <a:latin typeface="Arial" panose="020B0604020202020204" pitchFamily="34" charset="0"/>
                <a:cs typeface="Arial" panose="020B0604020202020204" pitchFamily="34" charset="0"/>
              </a:rPr>
              <a:t>The automation of the workplace has been the most vigorously pursued concept since the industrial age. Despite the original fear that workplace automation would mean the end to human work, except in a few areas, workplace automation has proceeded hand in hand with increases in employment numbers. </a:t>
            </a:r>
          </a:p>
        </p:txBody>
      </p:sp>
      <p:sp>
        <p:nvSpPr>
          <p:cNvPr id="3" name="Date Placeholder 2">
            <a:extLst>
              <a:ext uri="{FF2B5EF4-FFF2-40B4-BE49-F238E27FC236}">
                <a16:creationId xmlns:a16="http://schemas.microsoft.com/office/drawing/2014/main" id="{06C43107-242A-8314-C806-A7BB4904F0BC}"/>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482696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7" y="504556"/>
            <a:ext cx="8259098" cy="763526"/>
          </a:xfrm>
        </p:spPr>
        <p:txBody>
          <a:bodyPr>
            <a:normAutofit/>
          </a:bodyPr>
          <a:lstStyle/>
          <a:p>
            <a:r>
              <a:rPr lang="en-PH" sz="3200" b="1" dirty="0">
                <a:effectLst/>
                <a:latin typeface="Arial" panose="020B0604020202020204" pitchFamily="34" charset="0"/>
                <a:cs typeface="Arial" panose="020B0604020202020204" pitchFamily="34" charset="0"/>
              </a:rPr>
              <a:t>The Electronic Office</a:t>
            </a:r>
            <a:endParaRPr lang="en-US" sz="3200" b="1" dirty="0">
              <a:solidFill>
                <a:schemeClr val="accent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fontScale="92500"/>
          </a:bodyPr>
          <a:lstStyle/>
          <a:p>
            <a:pPr algn="just">
              <a:buFontTx/>
              <a:buChar char="-"/>
            </a:pPr>
            <a:r>
              <a:rPr lang="en-PH" sz="2400" dirty="0">
                <a:latin typeface="Arial" panose="020B0604020202020204" pitchFamily="34" charset="0"/>
                <a:cs typeface="Arial" panose="020B0604020202020204" pitchFamily="34" charset="0"/>
              </a:rPr>
              <a:t>a technology-augmented office with knowledgeable employees. </a:t>
            </a:r>
          </a:p>
          <a:p>
            <a:pPr marL="0" indent="0" algn="just">
              <a:buNone/>
            </a:pPr>
            <a:r>
              <a:rPr lang="en-PH" sz="2400" dirty="0">
                <a:latin typeface="Arial" panose="020B0604020202020204" pitchFamily="34" charset="0"/>
                <a:cs typeface="Arial" panose="020B0604020202020204" pitchFamily="34" charset="0"/>
              </a:rPr>
              <a:t>The technology in the environment may include computers and computer-driven devices that help in interpersonal oral and electronic communication; distribution and receipt of correspondence; telecommunication devices with text-processing and storage capabilities to enable the office staff to design, develop, edit, and store material electronically; and other office support equipment to streamline decision-making tasks. </a:t>
            </a:r>
          </a:p>
        </p:txBody>
      </p:sp>
      <p:sp>
        <p:nvSpPr>
          <p:cNvPr id="4" name="Date Placeholder 3">
            <a:extLst>
              <a:ext uri="{FF2B5EF4-FFF2-40B4-BE49-F238E27FC236}">
                <a16:creationId xmlns:a16="http://schemas.microsoft.com/office/drawing/2014/main" id="{CD14FB7C-AC7A-1815-77A4-E855518EB016}"/>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832066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7" y="504556"/>
            <a:ext cx="8259098" cy="763526"/>
          </a:xfrm>
        </p:spPr>
        <p:txBody>
          <a:bodyPr>
            <a:normAutofit/>
          </a:bodyPr>
          <a:lstStyle/>
          <a:p>
            <a:r>
              <a:rPr lang="en-PH" sz="3200" b="1" dirty="0">
                <a:effectLst/>
                <a:latin typeface="Arial" panose="020B0604020202020204" pitchFamily="34" charset="0"/>
                <a:cs typeface="Arial" panose="020B0604020202020204" pitchFamily="34" charset="0"/>
              </a:rPr>
              <a:t>The Electronic Office</a:t>
            </a:r>
            <a:endParaRPr lang="en-US" sz="3200" b="1" dirty="0">
              <a:solidFill>
                <a:schemeClr val="accent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2 Factors Fueling the Growth of Electronic Office</a:t>
            </a:r>
          </a:p>
          <a:p>
            <a:pPr marL="722313" indent="-457200" algn="just" defTabSz="722313">
              <a:buFont typeface="+mj-lt"/>
              <a:buAutoNum type="arabicPeriod"/>
            </a:pPr>
            <a:r>
              <a:rPr lang="en-PH" sz="2400" dirty="0">
                <a:latin typeface="Arial" panose="020B0604020202020204" pitchFamily="34" charset="0"/>
                <a:cs typeface="Arial" panose="020B0604020202020204" pitchFamily="34" charset="0"/>
              </a:rPr>
              <a:t>Increasing productivity of office employees, to counter the rising costs of office operations</a:t>
            </a:r>
          </a:p>
          <a:p>
            <a:pPr marL="722313" indent="-457200" algn="just" defTabSz="722313">
              <a:buFont typeface="+mj-lt"/>
              <a:buAutoNum type="arabicPeriod"/>
            </a:pPr>
            <a:r>
              <a:rPr lang="en-PH" sz="2400" dirty="0">
                <a:latin typeface="Arial" panose="020B0604020202020204" pitchFamily="34" charset="0"/>
                <a:cs typeface="Arial" panose="020B0604020202020204" pitchFamily="34" charset="0"/>
              </a:rPr>
              <a:t>Acquiring of technology necessary to handle the ever-increasing complexity and modernization of office communication and decision-making processes.</a:t>
            </a:r>
          </a:p>
        </p:txBody>
      </p:sp>
      <p:sp>
        <p:nvSpPr>
          <p:cNvPr id="4" name="Date Placeholder 3">
            <a:extLst>
              <a:ext uri="{FF2B5EF4-FFF2-40B4-BE49-F238E27FC236}">
                <a16:creationId xmlns:a16="http://schemas.microsoft.com/office/drawing/2014/main" id="{57286252-CC21-8B8F-3ABB-44643D0025C6}"/>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661802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7" y="504556"/>
            <a:ext cx="8259098" cy="763526"/>
          </a:xfrm>
        </p:spPr>
        <p:txBody>
          <a:bodyPr>
            <a:normAutofit/>
          </a:bodyPr>
          <a:lstStyle/>
          <a:p>
            <a:r>
              <a:rPr lang="en-PH" sz="3200" b="1" dirty="0">
                <a:effectLst/>
                <a:latin typeface="Arial" panose="020B0604020202020204" pitchFamily="34" charset="0"/>
                <a:cs typeface="Arial" panose="020B0604020202020204" pitchFamily="34" charset="0"/>
              </a:rPr>
              <a:t>Office on Wheels and </a:t>
            </a:r>
            <a:r>
              <a:rPr lang="en-PH" sz="3200" b="1" dirty="0">
                <a:solidFill>
                  <a:schemeClr val="tx2">
                    <a:lumMod val="50000"/>
                  </a:schemeClr>
                </a:solidFill>
                <a:effectLst/>
                <a:latin typeface="Arial" panose="020B0604020202020204" pitchFamily="34" charset="0"/>
                <a:cs typeface="Arial" panose="020B0604020202020204" pitchFamily="34" charset="0"/>
              </a:rPr>
              <a:t>Wings</a:t>
            </a:r>
            <a:endParaRPr lang="en-US" sz="32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As electronic gadgetry has been invading the office and the overall workplace, workers have been leaving the office in droves, a few of them replaced by the new technology, others transplanted by it, but many for the experience of working outside their original office confines.</a:t>
            </a:r>
          </a:p>
        </p:txBody>
      </p:sp>
      <p:sp>
        <p:nvSpPr>
          <p:cNvPr id="4" name="Date Placeholder 3">
            <a:extLst>
              <a:ext uri="{FF2B5EF4-FFF2-40B4-BE49-F238E27FC236}">
                <a16:creationId xmlns:a16="http://schemas.microsoft.com/office/drawing/2014/main" id="{11B8C844-FDF9-C7A9-FC0C-45F815368DD8}"/>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09876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7" y="504556"/>
            <a:ext cx="8259098" cy="763526"/>
          </a:xfrm>
        </p:spPr>
        <p:txBody>
          <a:bodyPr>
            <a:normAutofit/>
          </a:bodyPr>
          <a:lstStyle/>
          <a:p>
            <a:r>
              <a:rPr lang="en-PH" sz="3200" b="1" dirty="0">
                <a:effectLst/>
                <a:latin typeface="Arial" panose="020B0604020202020204" pitchFamily="34" charset="0"/>
                <a:cs typeface="Arial" panose="020B0604020202020204" pitchFamily="34" charset="0"/>
              </a:rPr>
              <a:t>The Virtual Workplace </a:t>
            </a:r>
            <a:endParaRPr lang="en-US" sz="32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With the latest developments in telecommunication and computer technology, the virtual workplace is home to increasing type of employees who work very briefly in their corporate workplaces, are mostly on the road, and often telecommute using personal or company-provided equipment. This breed of worker is rarely in a fixed workplace, but nevertheless he or she performs a full day’s work even if at the beach.</a:t>
            </a:r>
          </a:p>
        </p:txBody>
      </p:sp>
      <p:sp>
        <p:nvSpPr>
          <p:cNvPr id="4" name="Date Placeholder 3">
            <a:extLst>
              <a:ext uri="{FF2B5EF4-FFF2-40B4-BE49-F238E27FC236}">
                <a16:creationId xmlns:a16="http://schemas.microsoft.com/office/drawing/2014/main" id="{69C4BE20-DC7C-7B90-3DA6-3A0B66957483}"/>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715088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Categories of Telecommuters</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workers who use their homes as an adjunct to their conventional office jobs</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consists of workers who use their homes as the base for their businesses</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consists of those who have full-time jobs with large companies but prefer through their own initiative to work from home. </a:t>
            </a:r>
          </a:p>
        </p:txBody>
      </p:sp>
      <p:sp>
        <p:nvSpPr>
          <p:cNvPr id="4" name="Date Placeholder 3">
            <a:extLst>
              <a:ext uri="{FF2B5EF4-FFF2-40B4-BE49-F238E27FC236}">
                <a16:creationId xmlns:a16="http://schemas.microsoft.com/office/drawing/2014/main" id="{5C76D746-7581-CC7B-9FD1-F2B0C15EB536}"/>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151417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Company Role in Telecommuting</a:t>
            </a:r>
          </a:p>
          <a:p>
            <a:pPr marL="0" indent="0" algn="just">
              <a:buNone/>
            </a:pPr>
            <a:r>
              <a:rPr lang="en-PH" sz="2400" dirty="0">
                <a:latin typeface="Arial" panose="020B0604020202020204" pitchFamily="34" charset="0"/>
                <a:cs typeface="Arial" panose="020B0604020202020204" pitchFamily="34" charset="0"/>
              </a:rPr>
              <a:t>The home office has always been prompted by new advances in technology and by the need of businesses to become more productive with minimum expenditures. As the Internet and globalization open up new international competition and as new technologies make telecommuting more acceptable to employees, company-sponsored telecommuters will increase.</a:t>
            </a:r>
          </a:p>
        </p:txBody>
      </p:sp>
      <p:sp>
        <p:nvSpPr>
          <p:cNvPr id="4" name="Date Placeholder 3">
            <a:extLst>
              <a:ext uri="{FF2B5EF4-FFF2-40B4-BE49-F238E27FC236}">
                <a16:creationId xmlns:a16="http://schemas.microsoft.com/office/drawing/2014/main" id="{D52F2562-4791-F93C-3165-11AC1B751B1D}"/>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00383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Effects and Benefits of Telecommuting (individual)</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Gender</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Nature of Work</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Labor Supply</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Age</a:t>
            </a:r>
          </a:p>
        </p:txBody>
      </p:sp>
      <p:sp>
        <p:nvSpPr>
          <p:cNvPr id="4" name="Date Placeholder 3">
            <a:extLst>
              <a:ext uri="{FF2B5EF4-FFF2-40B4-BE49-F238E27FC236}">
                <a16:creationId xmlns:a16="http://schemas.microsoft.com/office/drawing/2014/main" id="{98C3D186-F73B-0B28-F117-6489764F7B05}"/>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606282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Effects and Benefits of Telecommuting (employees and employers)</a:t>
            </a:r>
          </a:p>
          <a:p>
            <a:pPr algn="just"/>
            <a:r>
              <a:rPr lang="en-PH" sz="2400" dirty="0">
                <a:latin typeface="Arial" panose="020B0604020202020204" pitchFamily="34" charset="0"/>
                <a:cs typeface="Arial" panose="020B0604020202020204" pitchFamily="34" charset="0"/>
              </a:rPr>
              <a:t>eliminates the time, trouble, and expense of physically commuting to work. </a:t>
            </a:r>
          </a:p>
          <a:p>
            <a:pPr algn="just"/>
            <a:r>
              <a:rPr lang="en-PH" sz="2400" dirty="0">
                <a:latin typeface="Arial" panose="020B0604020202020204" pitchFamily="34" charset="0"/>
                <a:cs typeface="Arial" panose="020B0604020202020204" pitchFamily="34" charset="0"/>
              </a:rPr>
              <a:t>translate directly and immediately into more discretionary time, less stress, and general health improvements.</a:t>
            </a:r>
          </a:p>
        </p:txBody>
      </p:sp>
      <p:sp>
        <p:nvSpPr>
          <p:cNvPr id="4" name="Date Placeholder 3">
            <a:extLst>
              <a:ext uri="{FF2B5EF4-FFF2-40B4-BE49-F238E27FC236}">
                <a16:creationId xmlns:a16="http://schemas.microsoft.com/office/drawing/2014/main" id="{8BDA3509-555E-CDA5-E844-312275D8F7F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70400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Effects and Benefits of Telecommuting (employees and employers)</a:t>
            </a:r>
          </a:p>
          <a:p>
            <a:pPr algn="just"/>
            <a:r>
              <a:rPr lang="en-PH" sz="2400" dirty="0">
                <a:latin typeface="Arial" panose="020B0604020202020204" pitchFamily="34" charset="0"/>
                <a:cs typeface="Arial" panose="020B0604020202020204" pitchFamily="34" charset="0"/>
              </a:rPr>
              <a:t>More autonomy in work decisions and having more control over time and more flexibility in job variations.</a:t>
            </a:r>
          </a:p>
          <a:p>
            <a:pPr algn="just"/>
            <a:r>
              <a:rPr lang="en-PH" sz="2400" dirty="0">
                <a:latin typeface="Arial" panose="020B0604020202020204" pitchFamily="34" charset="0"/>
                <a:cs typeface="Arial" panose="020B0604020202020204" pitchFamily="34" charset="0"/>
              </a:rPr>
              <a:t>Less commuting expenses on an individual.</a:t>
            </a:r>
          </a:p>
          <a:p>
            <a:pPr algn="just"/>
            <a:r>
              <a:rPr lang="en-PH" sz="2400" dirty="0">
                <a:latin typeface="Arial" panose="020B0604020202020204" pitchFamily="34" charset="0"/>
                <a:cs typeface="Arial" panose="020B0604020202020204" pitchFamily="34" charset="0"/>
              </a:rPr>
              <a:t>More quality time with family with less to no frustration at home</a:t>
            </a:r>
          </a:p>
        </p:txBody>
      </p:sp>
      <p:sp>
        <p:nvSpPr>
          <p:cNvPr id="4" name="Date Placeholder 3">
            <a:extLst>
              <a:ext uri="{FF2B5EF4-FFF2-40B4-BE49-F238E27FC236}">
                <a16:creationId xmlns:a16="http://schemas.microsoft.com/office/drawing/2014/main" id="{31998BF3-64AF-2BD0-BE94-51CEA01CF99C}"/>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111235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The Quiet Revolution: The Growth of </a:t>
            </a:r>
            <a:r>
              <a:rPr lang="en-PH" sz="2800" b="1" dirty="0">
                <a:effectLst/>
                <a:latin typeface="Arial" panose="020B0604020202020204" pitchFamily="34" charset="0"/>
                <a:cs typeface="Arial" panose="020B0604020202020204" pitchFamily="34" charset="0"/>
              </a:rPr>
              <a:t>Te</a:t>
            </a:r>
            <a:r>
              <a:rPr lang="en-PH" sz="2800" b="1" dirty="0">
                <a:solidFill>
                  <a:schemeClr val="tx2">
                    <a:lumMod val="50000"/>
                  </a:schemeClr>
                </a:solidFill>
                <a:effectLst/>
                <a:latin typeface="Arial" panose="020B0604020202020204" pitchFamily="34" charset="0"/>
                <a:cs typeface="Arial" panose="020B0604020202020204" pitchFamily="34" charset="0"/>
              </a:rPr>
              <a:t>lecommuting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b="1" dirty="0">
                <a:latin typeface="Arial" panose="020B0604020202020204" pitchFamily="34" charset="0"/>
                <a:cs typeface="Arial" panose="020B0604020202020204" pitchFamily="34" charset="0"/>
              </a:rPr>
              <a:t>Effects and Benefits of Telecommuting (employees and employers)</a:t>
            </a:r>
          </a:p>
          <a:p>
            <a:pPr algn="just"/>
            <a:r>
              <a:rPr lang="en-PH" sz="2400" dirty="0">
                <a:latin typeface="Arial" panose="020B0604020202020204" pitchFamily="34" charset="0"/>
                <a:cs typeface="Arial" panose="020B0604020202020204" pitchFamily="34" charset="0"/>
              </a:rPr>
              <a:t>Employers benefit from the extra productivity that has been reported to be consistently at 10–15% in many studies in the last two decades.</a:t>
            </a:r>
          </a:p>
          <a:p>
            <a:pPr algn="just"/>
            <a:r>
              <a:rPr lang="en-PH" sz="2400" dirty="0">
                <a:latin typeface="Arial" panose="020B0604020202020204" pitchFamily="34" charset="0"/>
                <a:cs typeface="Arial" panose="020B0604020202020204" pitchFamily="34" charset="0"/>
              </a:rPr>
              <a:t>Employers also save on expenses through having fewer employees on company premises</a:t>
            </a:r>
          </a:p>
        </p:txBody>
      </p:sp>
      <p:sp>
        <p:nvSpPr>
          <p:cNvPr id="4" name="Date Placeholder 3">
            <a:extLst>
              <a:ext uri="{FF2B5EF4-FFF2-40B4-BE49-F238E27FC236}">
                <a16:creationId xmlns:a16="http://schemas.microsoft.com/office/drawing/2014/main" id="{9D7E961D-CA69-2C01-C254-36A2F5EC77AF}"/>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623851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Employee Social and Ethical Issues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Office automation is used to conjure up terrifying images of less control, helplessness, joblessness, and the stagnation of humanity. Within the context of office automation, the concept implies the idea of massive layoffs because offices with intelligent machines may require fewer people.</a:t>
            </a:r>
          </a:p>
        </p:txBody>
      </p:sp>
      <p:sp>
        <p:nvSpPr>
          <p:cNvPr id="4" name="Date Placeholder 3">
            <a:extLst>
              <a:ext uri="{FF2B5EF4-FFF2-40B4-BE49-F238E27FC236}">
                <a16:creationId xmlns:a16="http://schemas.microsoft.com/office/drawing/2014/main" id="{58AE7709-13A4-DDA5-D032-A22B70F80B32}"/>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46191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Employee Social and Ethical Issues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13057" cy="3325760"/>
          </a:xfrm>
        </p:spPr>
        <p:txBody>
          <a:bodyPr>
            <a:normAutofit/>
          </a:bodyPr>
          <a:lstStyle/>
          <a:p>
            <a:pPr marL="0" indent="0" algn="just">
              <a:buNone/>
            </a:pPr>
            <a:r>
              <a:rPr lang="en-PH" sz="2400" dirty="0" err="1">
                <a:latin typeface="Arial" panose="020B0604020202020204" pitchFamily="34" charset="0"/>
                <a:cs typeface="Arial" panose="020B0604020202020204" pitchFamily="34" charset="0"/>
              </a:rPr>
              <a:t>Diskilling</a:t>
            </a:r>
            <a:r>
              <a:rPr lang="en-PH" sz="2400" dirty="0">
                <a:latin typeface="Arial" panose="020B0604020202020204" pitchFamily="34" charset="0"/>
                <a:cs typeface="Arial" panose="020B0604020202020204" pitchFamily="34" charset="0"/>
              </a:rPr>
              <a:t> - stripping an employee of job skills as a result of changes either in job content or procedures</a:t>
            </a:r>
          </a:p>
          <a:p>
            <a:pPr marL="0" indent="0" algn="just">
              <a:buNone/>
            </a:pPr>
            <a:r>
              <a:rPr lang="en-PH" sz="2400" dirty="0">
                <a:latin typeface="Arial" panose="020B0604020202020204" pitchFamily="34" charset="0"/>
                <a:cs typeface="Arial" panose="020B0604020202020204" pitchFamily="34" charset="0"/>
              </a:rPr>
              <a:t>	</a:t>
            </a:r>
            <a:r>
              <a:rPr lang="en-PH" sz="2400" dirty="0" err="1">
                <a:latin typeface="Arial" panose="020B0604020202020204" pitchFamily="34" charset="0"/>
                <a:cs typeface="Arial" panose="020B0604020202020204" pitchFamily="34" charset="0"/>
              </a:rPr>
              <a:t>Intraoccupational</a:t>
            </a:r>
            <a:r>
              <a:rPr lang="en-PH" sz="2400" dirty="0">
                <a:latin typeface="Arial" panose="020B0604020202020204" pitchFamily="34" charset="0"/>
                <a:cs typeface="Arial" panose="020B0604020202020204" pitchFamily="34" charset="0"/>
              </a:rPr>
              <a:t> - case the skill content of the job decreases over time</a:t>
            </a:r>
          </a:p>
          <a:p>
            <a:pPr marL="0" indent="0" algn="just">
              <a:buNone/>
            </a:pPr>
            <a:r>
              <a:rPr lang="en-PH" sz="2400" dirty="0">
                <a:latin typeface="Arial" panose="020B0604020202020204" pitchFamily="34" charset="0"/>
                <a:cs typeface="Arial" panose="020B0604020202020204" pitchFamily="34" charset="0"/>
              </a:rPr>
              <a:t>	</a:t>
            </a:r>
            <a:r>
              <a:rPr lang="en-PH" sz="2400" dirty="0" err="1">
                <a:latin typeface="Arial" panose="020B0604020202020204" pitchFamily="34" charset="0"/>
                <a:cs typeface="Arial" panose="020B0604020202020204" pitchFamily="34" charset="0"/>
              </a:rPr>
              <a:t>Entraoccupational</a:t>
            </a:r>
            <a:r>
              <a:rPr lang="en-PH" sz="2400" dirty="0">
                <a:latin typeface="Arial" panose="020B0604020202020204" pitchFamily="34" charset="0"/>
                <a:cs typeface="Arial" panose="020B0604020202020204" pitchFamily="34" charset="0"/>
              </a:rPr>
              <a:t> - very few people gain the skills needed for the job, causing either low-paying jobs or layoffs</a:t>
            </a:r>
          </a:p>
        </p:txBody>
      </p:sp>
      <p:sp>
        <p:nvSpPr>
          <p:cNvPr id="4" name="Date Placeholder 3">
            <a:extLst>
              <a:ext uri="{FF2B5EF4-FFF2-40B4-BE49-F238E27FC236}">
                <a16:creationId xmlns:a16="http://schemas.microsoft.com/office/drawing/2014/main" id="{C8DB8258-89B6-8916-5C66-7B39DB157668}"/>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120192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Employee Social and Ethical Issues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1" y="1106707"/>
            <a:ext cx="8613057" cy="3325760"/>
          </a:xfrm>
        </p:spPr>
        <p:txBody>
          <a:bodyPr>
            <a:normAutofit lnSpcReduction="10000"/>
          </a:bodyPr>
          <a:lstStyle/>
          <a:p>
            <a:pPr marL="0" indent="0" algn="just">
              <a:buNone/>
            </a:pPr>
            <a:r>
              <a:rPr lang="en-PH" sz="2400" dirty="0">
                <a:latin typeface="Arial" panose="020B0604020202020204" pitchFamily="34" charset="0"/>
                <a:cs typeface="Arial" panose="020B0604020202020204" pitchFamily="34" charset="0"/>
              </a:rPr>
              <a:t>Factors that prevent </a:t>
            </a:r>
            <a:r>
              <a:rPr lang="en-PH" sz="2400" dirty="0" err="1">
                <a:latin typeface="Arial" panose="020B0604020202020204" pitchFamily="34" charset="0"/>
                <a:cs typeface="Arial" panose="020B0604020202020204" pitchFamily="34" charset="0"/>
              </a:rPr>
              <a:t>diskilling</a:t>
            </a:r>
            <a:endParaRPr lang="en-PH" sz="2400" dirty="0">
              <a:latin typeface="Arial" panose="020B0604020202020204" pitchFamily="34" charset="0"/>
              <a:cs typeface="Arial" panose="020B0604020202020204" pitchFamily="34" charset="0"/>
            </a:endParaRPr>
          </a:p>
          <a:p>
            <a:pPr algn="just"/>
            <a:r>
              <a:rPr lang="en-PH" sz="2400" dirty="0">
                <a:latin typeface="Arial" panose="020B0604020202020204" pitchFamily="34" charset="0"/>
                <a:cs typeface="Arial" panose="020B0604020202020204" pitchFamily="34" charset="0"/>
              </a:rPr>
              <a:t>The willingness of employees to retrain and use the newly acquired technology</a:t>
            </a:r>
          </a:p>
          <a:p>
            <a:pPr algn="just"/>
            <a:r>
              <a:rPr lang="en-PH" sz="2400" dirty="0">
                <a:latin typeface="Arial" panose="020B0604020202020204" pitchFamily="34" charset="0"/>
                <a:cs typeface="Arial" panose="020B0604020202020204" pitchFamily="34" charset="0"/>
              </a:rPr>
              <a:t>The historical patterns show that more efficient production techniques lead to expanded operations and added growth, which leads to more hiring rather than firing of existing employees.</a:t>
            </a:r>
          </a:p>
          <a:p>
            <a:pPr algn="just"/>
            <a:r>
              <a:rPr lang="en-PH" sz="2400" dirty="0">
                <a:latin typeface="Arial" panose="020B0604020202020204" pitchFamily="34" charset="0"/>
                <a:cs typeface="Arial" panose="020B0604020202020204" pitchFamily="34" charset="0"/>
              </a:rPr>
              <a:t>more employees are usually hired to cope with the new technology and to handle the expanded work capacity</a:t>
            </a:r>
          </a:p>
        </p:txBody>
      </p:sp>
      <p:sp>
        <p:nvSpPr>
          <p:cNvPr id="4" name="Date Placeholder 3">
            <a:extLst>
              <a:ext uri="{FF2B5EF4-FFF2-40B4-BE49-F238E27FC236}">
                <a16:creationId xmlns:a16="http://schemas.microsoft.com/office/drawing/2014/main" id="{22316F41-BF42-D27F-4C26-532B015E26FC}"/>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016389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9934" y="117690"/>
            <a:ext cx="3465871" cy="763526"/>
          </a:xfrm>
        </p:spPr>
        <p:txBody>
          <a:bodyPr>
            <a:normAutofit fontScale="90000"/>
          </a:bodyPr>
          <a:lstStyle/>
          <a:p>
            <a:r>
              <a:rPr lang="en-US" sz="3200" b="1" dirty="0">
                <a:solidFill>
                  <a:schemeClr val="accent1">
                    <a:lumMod val="50000"/>
                  </a:schemeClr>
                </a:solidFill>
                <a:effectLst/>
                <a:latin typeface="Arial" panose="020B0604020202020204" pitchFamily="34" charset="0"/>
                <a:cs typeface="Arial" panose="020B0604020202020204" pitchFamily="34" charset="0"/>
              </a:rPr>
              <a:t>Employee Monitoring</a:t>
            </a:r>
            <a:endParaRPr lang="en-US" sz="3200" b="1" dirty="0">
              <a:solidFill>
                <a:schemeClr val="tx2">
                  <a:lumMod val="75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08705" cy="2949100"/>
          </a:xfrm>
        </p:spPr>
        <p:txBody>
          <a:bodyPr numCol="1">
            <a:normAutofit/>
          </a:bodyPr>
          <a:lstStyle/>
          <a:p>
            <a:pPr marL="0" indent="0" algn="just">
              <a:buNone/>
            </a:pPr>
            <a:r>
              <a:rPr lang="en-PH" sz="2000" dirty="0">
                <a:latin typeface="Arial" panose="020B0604020202020204" pitchFamily="34" charset="0"/>
                <a:cs typeface="Arial" panose="020B0604020202020204" pitchFamily="34" charset="0"/>
              </a:rPr>
              <a:t>Theory X Management - characterized by a top-down autocratic style of management in which the manager—literally from the top floor —commanded the activities of the factory workers on the factory floor with almost omniscient and demeaning power</a:t>
            </a:r>
          </a:p>
          <a:p>
            <a:pPr marL="0" indent="0" algn="just">
              <a:buNone/>
            </a:pPr>
            <a:r>
              <a:rPr lang="en-PH" sz="2000" dirty="0">
                <a:latin typeface="Arial" panose="020B0604020202020204" pitchFamily="34" charset="0"/>
                <a:cs typeface="Arial" panose="020B0604020202020204" pitchFamily="34" charset="0"/>
              </a:rPr>
              <a:t>Theory Y Management - put more faith and empowerment in the hands of the employees; was hierarchical with the employee ranks broken down into small semi-independent units</a:t>
            </a:r>
          </a:p>
        </p:txBody>
      </p:sp>
      <p:sp>
        <p:nvSpPr>
          <p:cNvPr id="4" name="Date Placeholder 3">
            <a:extLst>
              <a:ext uri="{FF2B5EF4-FFF2-40B4-BE49-F238E27FC236}">
                <a16:creationId xmlns:a16="http://schemas.microsoft.com/office/drawing/2014/main" id="{C4A07F9F-5453-E6E5-838C-A7B6EA5AB04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94939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9934" y="117690"/>
            <a:ext cx="3465871" cy="763526"/>
          </a:xfrm>
        </p:spPr>
        <p:txBody>
          <a:bodyPr>
            <a:normAutofit fontScale="90000"/>
          </a:bodyPr>
          <a:lstStyle/>
          <a:p>
            <a:r>
              <a:rPr lang="en-US" sz="3200" b="1" dirty="0">
                <a:solidFill>
                  <a:schemeClr val="accent1">
                    <a:lumMod val="50000"/>
                  </a:schemeClr>
                </a:solidFill>
                <a:effectLst/>
                <a:latin typeface="Arial" panose="020B0604020202020204" pitchFamily="34" charset="0"/>
                <a:cs typeface="Arial" panose="020B0604020202020204" pitchFamily="34" charset="0"/>
              </a:rPr>
              <a:t>Employee Monitoring</a:t>
            </a:r>
            <a:endParaRPr lang="en-US" sz="3200" b="1" dirty="0">
              <a:solidFill>
                <a:schemeClr val="tx2">
                  <a:lumMod val="75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08705" cy="2949100"/>
          </a:xfrm>
        </p:spPr>
        <p:txBody>
          <a:bodyPr numCol="1">
            <a:normAutofit/>
          </a:bodyPr>
          <a:lstStyle/>
          <a:p>
            <a:pPr marL="0" indent="0" algn="just">
              <a:buNone/>
            </a:pPr>
            <a:r>
              <a:rPr lang="en-PH" sz="2000" dirty="0">
                <a:latin typeface="Arial" panose="020B0604020202020204" pitchFamily="34" charset="0"/>
                <a:cs typeface="Arial" panose="020B0604020202020204" pitchFamily="34" charset="0"/>
              </a:rPr>
              <a:t>Scientific Management - management is trying to wrest back control of the work process away from the workers and slowly bring back the techniques of Theory X.</a:t>
            </a:r>
          </a:p>
          <a:p>
            <a:pPr marL="0" indent="0" algn="just">
              <a:buNone/>
            </a:pPr>
            <a:r>
              <a:rPr lang="en-PH" sz="2000" dirty="0">
                <a:latin typeface="Arial" panose="020B0604020202020204" pitchFamily="34" charset="0"/>
                <a:cs typeface="Arial" panose="020B0604020202020204" pitchFamily="34" charset="0"/>
              </a:rPr>
              <a:t>Fear Management - aimed at keeping worker in line, just like all other management styles, but with “voluntary” compliance by workers to company management policies and practices they would normally have questioned or challenged.</a:t>
            </a:r>
          </a:p>
        </p:txBody>
      </p:sp>
      <p:sp>
        <p:nvSpPr>
          <p:cNvPr id="4" name="Date Placeholder 3">
            <a:extLst>
              <a:ext uri="{FF2B5EF4-FFF2-40B4-BE49-F238E27FC236}">
                <a16:creationId xmlns:a16="http://schemas.microsoft.com/office/drawing/2014/main" id="{6D9A0548-8F14-9AC7-4292-C944B3BD3BEE}"/>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11019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Workplace Privacy and Surveillance</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2 Channels where the employers collect information to the employees:</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Voluntary channel</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Surveillance</a:t>
            </a:r>
          </a:p>
          <a:p>
            <a:pPr marL="0" indent="0" algn="just">
              <a:buNone/>
            </a:pPr>
            <a:endParaRPr lang="en-PH"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FE21BFF3-AB5F-AF0D-3807-B917F62B375A}"/>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2932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Electronic Monitoring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algn="just">
              <a:buFontTx/>
              <a:buChar char="-"/>
            </a:pPr>
            <a:r>
              <a:rPr lang="en-PH" sz="2400" dirty="0">
                <a:latin typeface="Arial" panose="020B0604020202020204" pitchFamily="34" charset="0"/>
                <a:cs typeface="Arial" panose="020B0604020202020204" pitchFamily="34" charset="0"/>
              </a:rPr>
              <a:t>the monitoring of employees using electronic devices</a:t>
            </a:r>
          </a:p>
          <a:p>
            <a:pPr algn="just">
              <a:buFontTx/>
              <a:buChar char="-"/>
            </a:pPr>
            <a:r>
              <a:rPr lang="en-PH" sz="2400" dirty="0">
                <a:latin typeface="Arial" panose="020B0604020202020204" pitchFamily="34" charset="0"/>
                <a:cs typeface="Arial" panose="020B0604020202020204" pitchFamily="34" charset="0"/>
              </a:rPr>
              <a:t>it measures the quality and usually the quantity of work and the ability and effectiveness of the worker </a:t>
            </a:r>
          </a:p>
          <a:p>
            <a:pPr algn="just">
              <a:buFontTx/>
              <a:buChar char="-"/>
            </a:pPr>
            <a:r>
              <a:rPr lang="en-PH" sz="2400" dirty="0">
                <a:latin typeface="Arial" panose="020B0604020202020204" pitchFamily="34" charset="0"/>
                <a:cs typeface="Arial" panose="020B0604020202020204" pitchFamily="34" charset="0"/>
              </a:rPr>
              <a:t>measures the worker’s habits on and off the work premises </a:t>
            </a:r>
          </a:p>
          <a:p>
            <a:pPr marL="0" indent="0" algn="just">
              <a:buNone/>
            </a:pPr>
            <a:endParaRPr lang="en-PH" sz="24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F2A5D33-A307-C1BB-B92F-7327F6726EF1}"/>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37252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Electronic Monitoring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400" dirty="0">
                <a:latin typeface="Arial" panose="020B0604020202020204" pitchFamily="34" charset="0"/>
                <a:cs typeface="Arial" panose="020B0604020202020204" pitchFamily="34" charset="0"/>
              </a:rPr>
              <a:t>2 Important Issues that Emerged </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Very often an intended goal of a monitoring program may be clouded by a different goal perceived by the monitored group. </a:t>
            </a:r>
          </a:p>
          <a:p>
            <a:pPr marL="457200" indent="-457200" algn="just">
              <a:buFont typeface="+mj-lt"/>
              <a:buAutoNum type="arabicPeriod"/>
            </a:pPr>
            <a:r>
              <a:rPr lang="en-PH" sz="2400" dirty="0">
                <a:latin typeface="Arial" panose="020B0604020202020204" pitchFamily="34" charset="0"/>
                <a:cs typeface="Arial" panose="020B0604020202020204" pitchFamily="34" charset="0"/>
              </a:rPr>
              <a:t>The psychological effects on the monitored employees may be more severe than previously thought and anticipated. </a:t>
            </a:r>
          </a:p>
        </p:txBody>
      </p:sp>
      <p:sp>
        <p:nvSpPr>
          <p:cNvPr id="4" name="Date Placeholder 3">
            <a:extLst>
              <a:ext uri="{FF2B5EF4-FFF2-40B4-BE49-F238E27FC236}">
                <a16:creationId xmlns:a16="http://schemas.microsoft.com/office/drawing/2014/main" id="{DE505367-37AD-41DC-6C99-8F57375AC942}"/>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368198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Electronic Monitoring</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fontScale="92500" lnSpcReduction="10000"/>
          </a:bodyPr>
          <a:lstStyle/>
          <a:p>
            <a:pPr marL="0" indent="0" algn="just">
              <a:buNone/>
            </a:pPr>
            <a:r>
              <a:rPr lang="en-PH" sz="2400" dirty="0">
                <a:latin typeface="Arial" panose="020B0604020202020204" pitchFamily="34" charset="0"/>
                <a:cs typeface="Arial" panose="020B0604020202020204" pitchFamily="34" charset="0"/>
              </a:rPr>
              <a:t>Consequences of Electronic Monitoring</a:t>
            </a:r>
          </a:p>
          <a:p>
            <a:pPr algn="just"/>
            <a:r>
              <a:rPr lang="en-PH" sz="2000" dirty="0">
                <a:latin typeface="Arial" panose="020B0604020202020204" pitchFamily="34" charset="0"/>
                <a:cs typeface="Arial" panose="020B0604020202020204" pitchFamily="34" charset="0"/>
              </a:rPr>
              <a:t>Fear of job losing</a:t>
            </a:r>
          </a:p>
          <a:p>
            <a:pPr algn="just"/>
            <a:r>
              <a:rPr lang="en-PH" sz="2000" dirty="0">
                <a:latin typeface="Arial" panose="020B0604020202020204" pitchFamily="34" charset="0"/>
                <a:cs typeface="Arial" panose="020B0604020202020204" pitchFamily="34" charset="0"/>
              </a:rPr>
              <a:t>Reduced task variety</a:t>
            </a:r>
          </a:p>
          <a:p>
            <a:pPr algn="just"/>
            <a:r>
              <a:rPr lang="en-PH" sz="2000" dirty="0">
                <a:latin typeface="Arial" panose="020B0604020202020204" pitchFamily="34" charset="0"/>
                <a:cs typeface="Arial" panose="020B0604020202020204" pitchFamily="34" charset="0"/>
              </a:rPr>
              <a:t>Lack of individual initiatives</a:t>
            </a:r>
          </a:p>
          <a:p>
            <a:pPr algn="just"/>
            <a:r>
              <a:rPr lang="en-PH" sz="2000" dirty="0">
                <a:latin typeface="Arial" panose="020B0604020202020204" pitchFamily="34" charset="0"/>
                <a:cs typeface="Arial" panose="020B0604020202020204" pitchFamily="34" charset="0"/>
              </a:rPr>
              <a:t>Reduced or no peer social support</a:t>
            </a:r>
          </a:p>
          <a:p>
            <a:pPr algn="just"/>
            <a:r>
              <a:rPr lang="en-PH" sz="2000" dirty="0">
                <a:latin typeface="Arial" panose="020B0604020202020204" pitchFamily="34" charset="0"/>
                <a:cs typeface="Arial" panose="020B0604020202020204" pitchFamily="34" charset="0"/>
              </a:rPr>
              <a:t>Lack of self-esteem</a:t>
            </a:r>
          </a:p>
          <a:p>
            <a:pPr algn="just"/>
            <a:r>
              <a:rPr lang="en-PH" sz="2000" dirty="0">
                <a:latin typeface="Arial" panose="020B0604020202020204" pitchFamily="34" charset="0"/>
                <a:cs typeface="Arial" panose="020B0604020202020204" pitchFamily="34" charset="0"/>
              </a:rPr>
              <a:t>Lack of interest in their job</a:t>
            </a:r>
          </a:p>
          <a:p>
            <a:pPr algn="just"/>
            <a:r>
              <a:rPr lang="en-PH" sz="2000" dirty="0">
                <a:latin typeface="Arial" panose="020B0604020202020204" pitchFamily="34" charset="0"/>
                <a:cs typeface="Arial" panose="020B0604020202020204" pitchFamily="34" charset="0"/>
              </a:rPr>
              <a:t>Lack of trust among workers, between workers and supervisors, and between supervisors and management</a:t>
            </a:r>
          </a:p>
          <a:p>
            <a:pPr algn="just"/>
            <a:r>
              <a:rPr lang="en-PH" sz="2000" dirty="0">
                <a:latin typeface="Arial" panose="020B0604020202020204" pitchFamily="34" charset="0"/>
                <a:cs typeface="Arial" panose="020B0604020202020204" pitchFamily="34" charset="0"/>
              </a:rPr>
              <a:t>Alienation</a:t>
            </a:r>
          </a:p>
          <a:p>
            <a:pPr algn="just"/>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85F06D04-98B0-1DCE-8D14-1C7485B08B88}"/>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194844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239" y="117690"/>
            <a:ext cx="4302177" cy="763526"/>
          </a:xfrm>
        </p:spPr>
        <p:txBody>
          <a:bodyPr>
            <a:normAutofit fontScale="90000"/>
          </a:bodyPr>
          <a:lstStyle/>
          <a:p>
            <a:r>
              <a:rPr lang="en-PH" sz="3200" b="1" dirty="0">
                <a:solidFill>
                  <a:schemeClr val="accent1">
                    <a:lumMod val="50000"/>
                  </a:schemeClr>
                </a:solidFill>
                <a:effectLst/>
                <a:highlight>
                  <a:srgbClr val="5DD5FF"/>
                </a:highlight>
                <a:latin typeface="Arial" panose="020B0604020202020204" pitchFamily="34" charset="0"/>
                <a:cs typeface="Arial" panose="020B0604020202020204" pitchFamily="34" charset="0"/>
              </a:rPr>
              <a:t>Workplace, Employee, Health and Productivity</a:t>
            </a:r>
            <a:endParaRPr lang="en-US" sz="3200" b="1" dirty="0">
              <a:solidFill>
                <a:schemeClr val="tx2">
                  <a:lumMod val="75000"/>
                </a:schemeClr>
              </a:solidFill>
              <a:effectLst/>
              <a:highlight>
                <a:srgbClr val="5DD5FF"/>
              </a:highligh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5472" y="1313184"/>
            <a:ext cx="8608705" cy="2949100"/>
          </a:xfrm>
        </p:spPr>
        <p:txBody>
          <a:bodyPr numCol="1">
            <a:normAutofit/>
          </a:bodyPr>
          <a:lstStyle/>
          <a:p>
            <a:pPr marL="0" indent="0" algn="just">
              <a:buNone/>
            </a:pPr>
            <a:r>
              <a:rPr lang="en-PH" sz="2000" dirty="0">
                <a:latin typeface="Arial" panose="020B0604020202020204" pitchFamily="34" charset="0"/>
                <a:cs typeface="Arial" panose="020B0604020202020204" pitchFamily="34" charset="0"/>
              </a:rPr>
              <a:t>Human beings always want to feel they are in control of their work and other aspects of their lives. The changing work environment gives the workers a choice either to work in a traditional office or from home. Choice brings commitment and obligation. When people make a choice of their own, they tend to commit to the requirements of their choice. The commitment to work always translates into higher productivity quotas. Although computer technology has given workers more control in decision making, it has also given them new dangers in the workplace</a:t>
            </a:r>
          </a:p>
        </p:txBody>
      </p:sp>
      <p:sp>
        <p:nvSpPr>
          <p:cNvPr id="4" name="Date Placeholder 3">
            <a:extLst>
              <a:ext uri="{FF2B5EF4-FFF2-40B4-BE49-F238E27FC236}">
                <a16:creationId xmlns:a16="http://schemas.microsoft.com/office/drawing/2014/main" id="{88E7EEF6-D168-6FBD-EDB2-3A6B9202860C}"/>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7434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Ergonomics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400">
                <a:latin typeface="Arial" panose="020B0604020202020204" pitchFamily="34" charset="0"/>
                <a:cs typeface="Arial" panose="020B0604020202020204" pitchFamily="34" charset="0"/>
              </a:rPr>
              <a:t>- an applied science concerned with designing human–machine interactions that offer and maintain a safe, comfortable, healthy, and habitable work environment. </a:t>
            </a:r>
            <a:endParaRPr lang="en-PH" sz="2000" dirty="0">
              <a:latin typeface="Arial" panose="020B0604020202020204" pitchFamily="34" charset="0"/>
              <a:cs typeface="Arial" panose="020B0604020202020204" pitchFamily="34" charset="0"/>
            </a:endParaRPr>
          </a:p>
          <a:p>
            <a:pPr algn="just"/>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6D9A5B0D-FCCC-E48E-C7E4-39D46854D979}"/>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79088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Ergonomics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000" b="1" dirty="0">
                <a:latin typeface="Arial" panose="020B0604020202020204" pitchFamily="34" charset="0"/>
                <a:cs typeface="Arial" panose="020B0604020202020204" pitchFamily="34" charset="0"/>
              </a:rPr>
              <a:t>Repetitive Strain Injury (RSI)</a:t>
            </a:r>
          </a:p>
          <a:p>
            <a:pPr algn="just">
              <a:buFontTx/>
              <a:buChar char="-"/>
            </a:pPr>
            <a:r>
              <a:rPr lang="en-PH" sz="2000" dirty="0">
                <a:latin typeface="Arial" panose="020B0604020202020204" pitchFamily="34" charset="0"/>
                <a:cs typeface="Arial" panose="020B0604020202020204" pitchFamily="34" charset="0"/>
              </a:rPr>
              <a:t>a set of work-related musculoskeletal disorders caused by repeated and prolonged body movement resulting in damage to the fibrous and soft body tissues like tendons, nerves, and muscles</a:t>
            </a:r>
          </a:p>
          <a:p>
            <a:pPr marL="0" indent="0" algn="just">
              <a:buNone/>
            </a:pPr>
            <a:r>
              <a:rPr lang="en-PH" sz="2000" dirty="0">
                <a:latin typeface="Arial" panose="020B0604020202020204" pitchFamily="34" charset="0"/>
                <a:cs typeface="Arial" panose="020B0604020202020204" pitchFamily="34" charset="0"/>
              </a:rPr>
              <a:t>	Causes</a:t>
            </a:r>
          </a:p>
          <a:p>
            <a:pPr algn="just">
              <a:buFontTx/>
              <a:buChar char="-"/>
            </a:pPr>
            <a:r>
              <a:rPr lang="en-PH" sz="2000" dirty="0">
                <a:latin typeface="Arial" panose="020B0604020202020204" pitchFamily="34" charset="0"/>
                <a:cs typeface="Arial" panose="020B0604020202020204" pitchFamily="34" charset="0"/>
              </a:rPr>
              <a:t>repetitive motion, forced gripping, performance stress, alienation, static loading fixed posture, deviated wrists, and boredom</a:t>
            </a:r>
          </a:p>
          <a:p>
            <a:pPr algn="just">
              <a:buFontTx/>
              <a:buChar char="-"/>
            </a:pPr>
            <a:endParaRPr lang="en-PH" sz="2000" dirty="0">
              <a:latin typeface="Arial" panose="020B0604020202020204" pitchFamily="34" charset="0"/>
              <a:cs typeface="Arial" panose="020B0604020202020204" pitchFamily="34" charset="0"/>
            </a:endParaRPr>
          </a:p>
          <a:p>
            <a:pPr marL="0" indent="0" algn="just">
              <a:buNone/>
            </a:pPr>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77ABC779-8C1A-597F-0915-8BD2B58E6B73}"/>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878683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Ergonomics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lnSpcReduction="10000"/>
          </a:bodyPr>
          <a:lstStyle/>
          <a:p>
            <a:pPr marL="0" indent="0" algn="just">
              <a:buNone/>
            </a:pPr>
            <a:r>
              <a:rPr lang="en-PH" sz="2000" b="1" dirty="0">
                <a:latin typeface="Arial" panose="020B0604020202020204" pitchFamily="34" charset="0"/>
                <a:cs typeface="Arial" panose="020B0604020202020204" pitchFamily="34" charset="0"/>
              </a:rPr>
              <a:t>Repetitive Strain Injury (RSI)</a:t>
            </a:r>
          </a:p>
          <a:p>
            <a:pPr marL="0" indent="0" algn="just">
              <a:buNone/>
            </a:pPr>
            <a:r>
              <a:rPr lang="en-PH" sz="2000" dirty="0">
                <a:latin typeface="Arial" panose="020B0604020202020204" pitchFamily="34" charset="0"/>
                <a:cs typeface="Arial" panose="020B0604020202020204" pitchFamily="34" charset="0"/>
              </a:rPr>
              <a:t>	Forms of RSI</a:t>
            </a:r>
          </a:p>
          <a:p>
            <a:pPr algn="just">
              <a:buFontTx/>
              <a:buChar char="-"/>
            </a:pPr>
            <a:r>
              <a:rPr lang="en-PH" sz="2000" dirty="0">
                <a:latin typeface="Arial" panose="020B0604020202020204" pitchFamily="34" charset="0"/>
                <a:cs typeface="Arial" panose="020B0604020202020204" pitchFamily="34" charset="0"/>
              </a:rPr>
              <a:t>occupational overuse syndrome (OOS), cumulative trauma disorder (CTD), carpal tunnel syndrome (CTS), and upper limb disorder (ULD) </a:t>
            </a:r>
          </a:p>
          <a:p>
            <a:pPr marL="0" indent="0" algn="just">
              <a:buNone/>
            </a:pPr>
            <a:r>
              <a:rPr lang="en-PH" sz="2000" dirty="0">
                <a:latin typeface="Arial" panose="020B0604020202020204" pitchFamily="34" charset="0"/>
                <a:cs typeface="Arial" panose="020B0604020202020204" pitchFamily="34" charset="0"/>
              </a:rPr>
              <a:t>     Suggested changes in work styles and techniques:</a:t>
            </a:r>
          </a:p>
          <a:p>
            <a:pPr marL="457200" indent="-457200" algn="just">
              <a:buFont typeface="+mj-lt"/>
              <a:buAutoNum type="arabicPeriod"/>
            </a:pPr>
            <a:r>
              <a:rPr lang="en-PH" sz="2000" dirty="0">
                <a:latin typeface="Arial" panose="020B0604020202020204" pitchFamily="34" charset="0"/>
                <a:cs typeface="Arial" panose="020B0604020202020204" pitchFamily="34" charset="0"/>
              </a:rPr>
              <a:t>Use ergonomically correct work equipment. These may include chairs, tables, computer equipment like new keyboards, monitors, new software, and new lighting in the workplace.</a:t>
            </a:r>
          </a:p>
          <a:p>
            <a:pPr marL="457200" indent="-457200" algn="just">
              <a:buFont typeface="+mj-lt"/>
              <a:buAutoNum type="arabicPeriod"/>
            </a:pPr>
            <a:r>
              <a:rPr lang="en-PH" sz="2000" dirty="0">
                <a:latin typeface="Arial" panose="020B0604020202020204" pitchFamily="34" charset="0"/>
                <a:cs typeface="Arial" panose="020B0604020202020204" pitchFamily="34" charset="0"/>
              </a:rPr>
              <a:t>Use a light touch on the keyboard to place less stress on body parts. Also, keep the wrists straight in line with your arms. </a:t>
            </a:r>
          </a:p>
          <a:p>
            <a:pPr marL="0" indent="0" algn="just">
              <a:buNone/>
            </a:pPr>
            <a:endParaRPr lang="en-PH" sz="2000" dirty="0">
              <a:latin typeface="Arial" panose="020B0604020202020204" pitchFamily="34" charset="0"/>
              <a:cs typeface="Arial" panose="020B0604020202020204" pitchFamily="34" charset="0"/>
            </a:endParaRPr>
          </a:p>
          <a:p>
            <a:pPr marL="0" indent="0" algn="just">
              <a:buNone/>
            </a:pPr>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445F62E8-C617-EC30-8670-764BFC3BD62E}"/>
              </a:ext>
            </a:extLst>
          </p:cNvPr>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25750015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Ergonomics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000" b="1" dirty="0">
                <a:latin typeface="Arial" panose="020B0604020202020204" pitchFamily="34" charset="0"/>
                <a:cs typeface="Arial" panose="020B0604020202020204" pitchFamily="34" charset="0"/>
              </a:rPr>
              <a:t>Repetitive Strain Injury (RSI)</a:t>
            </a:r>
          </a:p>
          <a:p>
            <a:pPr marL="0" indent="0" algn="just">
              <a:buNone/>
            </a:pPr>
            <a:r>
              <a:rPr lang="en-PH" sz="2000" dirty="0">
                <a:latin typeface="Arial" panose="020B0604020202020204" pitchFamily="34" charset="0"/>
                <a:cs typeface="Arial" panose="020B0604020202020204" pitchFamily="34" charset="0"/>
              </a:rPr>
              <a:t>	Suggested changes in work styles and techniques:</a:t>
            </a:r>
          </a:p>
          <a:p>
            <a:pPr marL="457200" indent="-457200" algn="just">
              <a:buFont typeface="+mj-lt"/>
              <a:buAutoNum type="arabicPeriod"/>
            </a:pPr>
            <a:r>
              <a:rPr lang="en-PH" sz="2000" dirty="0">
                <a:latin typeface="Arial" panose="020B0604020202020204" pitchFamily="34" charset="0"/>
                <a:cs typeface="Arial" panose="020B0604020202020204" pitchFamily="34" charset="0"/>
              </a:rPr>
              <a:t>Take frequent breaks from your work. Do not work for long hours without a break. Once you get a break, walk around and do some stretching exercises.</a:t>
            </a:r>
          </a:p>
          <a:p>
            <a:pPr marL="457200" indent="-457200" algn="just">
              <a:buFont typeface="+mj-lt"/>
              <a:buAutoNum type="arabicPeriod"/>
            </a:pPr>
            <a:r>
              <a:rPr lang="en-PH" sz="2000" dirty="0">
                <a:latin typeface="Arial" panose="020B0604020202020204" pitchFamily="34" charset="0"/>
                <a:cs typeface="Arial" panose="020B0604020202020204" pitchFamily="34" charset="0"/>
              </a:rPr>
              <a:t>Educate yourself about RSI.</a:t>
            </a:r>
          </a:p>
          <a:p>
            <a:pPr marL="457200" indent="-457200" algn="just">
              <a:buFont typeface="+mj-lt"/>
              <a:buAutoNum type="arabicPeriod"/>
            </a:pPr>
            <a:r>
              <a:rPr lang="en-PH" sz="2000" dirty="0">
                <a:latin typeface="Arial" panose="020B0604020202020204" pitchFamily="34" charset="0"/>
                <a:cs typeface="Arial" panose="020B0604020202020204" pitchFamily="34" charset="0"/>
              </a:rPr>
              <a:t>If necessary reduce the time you spend at the computer terminal.</a:t>
            </a:r>
          </a:p>
          <a:p>
            <a:pPr algn="just"/>
            <a:endParaRPr lang="en-PH" sz="2000" dirty="0">
              <a:latin typeface="Arial" panose="020B0604020202020204" pitchFamily="34" charset="0"/>
              <a:cs typeface="Arial" panose="020B0604020202020204" pitchFamily="34" charset="0"/>
            </a:endParaRPr>
          </a:p>
          <a:p>
            <a:pPr algn="just">
              <a:buFontTx/>
              <a:buChar char="-"/>
            </a:pPr>
            <a:endParaRPr lang="en-PH" sz="2000" dirty="0">
              <a:latin typeface="Arial" panose="020B0604020202020204" pitchFamily="34" charset="0"/>
              <a:cs typeface="Arial" panose="020B0604020202020204" pitchFamily="34" charset="0"/>
            </a:endParaRPr>
          </a:p>
          <a:p>
            <a:pPr marL="0" indent="0" algn="just">
              <a:buNone/>
            </a:pPr>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C25B00A5-36A4-34D1-073C-C068B73BDC6B}"/>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900296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18" y="504556"/>
            <a:ext cx="9195617" cy="763526"/>
          </a:xfrm>
        </p:spPr>
        <p:txBody>
          <a:bodyPr>
            <a:noAutofit/>
          </a:bodyPr>
          <a:lstStyle/>
          <a:p>
            <a:r>
              <a:rPr lang="en-PH" sz="2800" b="1" dirty="0">
                <a:solidFill>
                  <a:schemeClr val="tx2">
                    <a:lumMod val="50000"/>
                  </a:schemeClr>
                </a:solidFill>
                <a:effectLst/>
                <a:latin typeface="Arial" panose="020B0604020202020204" pitchFamily="34" charset="0"/>
                <a:cs typeface="Arial" panose="020B0604020202020204" pitchFamily="34" charset="0"/>
              </a:rPr>
              <a:t>Ergonomics</a:t>
            </a:r>
            <a:endParaRPr lang="en-US" sz="2800" b="1" dirty="0">
              <a:solidFill>
                <a:schemeClr val="tx2">
                  <a:lumMod val="50000"/>
                </a:schemeClr>
              </a:solidFill>
              <a:effectLst/>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39661" y="1268082"/>
            <a:ext cx="8613057" cy="3325760"/>
          </a:xfrm>
        </p:spPr>
        <p:txBody>
          <a:bodyPr>
            <a:normAutofit/>
          </a:bodyPr>
          <a:lstStyle/>
          <a:p>
            <a:pPr marL="0" indent="0" algn="just">
              <a:buNone/>
            </a:pPr>
            <a:r>
              <a:rPr lang="en-PH" sz="2000" b="1" dirty="0">
                <a:latin typeface="Arial" panose="020B0604020202020204" pitchFamily="34" charset="0"/>
                <a:cs typeface="Arial" panose="020B0604020202020204" pitchFamily="34" charset="0"/>
              </a:rPr>
              <a:t>Stress</a:t>
            </a:r>
          </a:p>
          <a:p>
            <a:pPr marL="0" indent="0" algn="just">
              <a:buNone/>
            </a:pPr>
            <a:r>
              <a:rPr lang="en-PH" sz="2000" dirty="0">
                <a:latin typeface="Arial" panose="020B0604020202020204" pitchFamily="34" charset="0"/>
                <a:cs typeface="Arial" panose="020B0604020202020204" pitchFamily="34" charset="0"/>
              </a:rPr>
              <a:t>	Stress is believed to have its origins in environmental inputs, and it appears through symptoms such as fear, anxiety, and anger. Anything that increases the stress level of an individual ultimately endangers that individual’s health.</a:t>
            </a:r>
          </a:p>
          <a:p>
            <a:pPr algn="just">
              <a:buFontTx/>
              <a:buChar char="-"/>
            </a:pPr>
            <a:endParaRPr lang="en-PH" sz="2000" dirty="0">
              <a:latin typeface="Arial" panose="020B0604020202020204" pitchFamily="34" charset="0"/>
              <a:cs typeface="Arial" panose="020B0604020202020204" pitchFamily="34" charset="0"/>
            </a:endParaRPr>
          </a:p>
          <a:p>
            <a:pPr marL="0" indent="0" algn="just">
              <a:buNone/>
            </a:pPr>
            <a:endParaRPr lang="en-PH"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3A87E7FC-C7C3-99F4-C56B-7B3FCA4D37D3}"/>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864125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2480</Words>
  <Application>Microsoft Office PowerPoint</Application>
  <PresentationFormat>On-screen Show (16:9)</PresentationFormat>
  <Paragraphs>196</Paragraphs>
  <Slides>45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Lecture 1 – </vt:lpstr>
      <vt:lpstr>Learning Objectives</vt:lpstr>
      <vt:lpstr>The Digital Divide</vt:lpstr>
      <vt:lpstr>Access</vt:lpstr>
      <vt:lpstr>Geography</vt:lpstr>
      <vt:lpstr>Geography</vt:lpstr>
      <vt:lpstr>Income</vt:lpstr>
      <vt:lpstr>Ethnicity</vt:lpstr>
      <vt:lpstr>Age</vt:lpstr>
      <vt:lpstr>Education</vt:lpstr>
      <vt:lpstr>Technology</vt:lpstr>
      <vt:lpstr>Hardware</vt:lpstr>
      <vt:lpstr>Software</vt:lpstr>
      <vt:lpstr>Humanware (Human Capacity)</vt:lpstr>
      <vt:lpstr>Infrastructure</vt:lpstr>
      <vt:lpstr>Enabling Environments</vt:lpstr>
      <vt:lpstr>Politics</vt:lpstr>
      <vt:lpstr>Public Policy and Management Styles</vt:lpstr>
      <vt:lpstr>Obstacles to Overcoming the Digital Divide</vt:lpstr>
      <vt:lpstr>ICT in the Workplace</vt:lpstr>
      <vt:lpstr>The Electronic Office</vt:lpstr>
      <vt:lpstr>The Electronic Office</vt:lpstr>
      <vt:lpstr>Office on Wheels and Wings</vt:lpstr>
      <vt:lpstr>The Virtual Workplace </vt:lpstr>
      <vt:lpstr>The Quiet Revolution: The Growth of Telecommuting</vt:lpstr>
      <vt:lpstr>The Quiet Revolution: The Growth of Telecommuting</vt:lpstr>
      <vt:lpstr>The Quiet Revolution: The Growth of Telecommuting</vt:lpstr>
      <vt:lpstr>The Quiet Revolution: The Growth of Telecommuting</vt:lpstr>
      <vt:lpstr>The Quiet Revolution: The Growth of Telecommuting</vt:lpstr>
      <vt:lpstr>The Quiet Revolution: The Growth of Telecommuting</vt:lpstr>
      <vt:lpstr>Employee Social and Ethical Issues</vt:lpstr>
      <vt:lpstr>Employee Social and Ethical Issues</vt:lpstr>
      <vt:lpstr>Employee Social and Ethical Issues</vt:lpstr>
      <vt:lpstr>Employee Monitoring</vt:lpstr>
      <vt:lpstr>Employee Monitoring</vt:lpstr>
      <vt:lpstr>Workplace Privacy and Surveillance</vt:lpstr>
      <vt:lpstr>Electronic Monitoring</vt:lpstr>
      <vt:lpstr>Electronic Monitoring</vt:lpstr>
      <vt:lpstr>Electronic Monitoring</vt:lpstr>
      <vt:lpstr>Workplace, Employee, Health and Productivity</vt:lpstr>
      <vt:lpstr>Ergonomics</vt:lpstr>
      <vt:lpstr>Ergonomics</vt:lpstr>
      <vt:lpstr>Ergonomics</vt:lpstr>
      <vt:lpstr>Ergonomics</vt:lpstr>
      <vt:lpstr>Ergonomics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2023-10-11T23:01:07Z</dcterms:modified>
</cp:coreProperties>
</file>